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Open with the one-line promise: an HR assistant you can trust with real numbers. Everything in this deck serves that. The assistant answers from policy, reads the employee's own records, and cannot submit anything without the employee confirming. Mention that the data and policies are samples written for the demonstration. About 15 minutes: a live demo first, then how it works, how we know it works, and where it falls short.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HR questions repeat constantly, and the answers sit in policy documents and HR systems. Leave questions are the hard kind: they depend on a rule and on the person's own data. A chatbot that guesses a number loses trust immediately. The brief asked for authenticated employees, answers from the policy documents, tools and a database for the dynamic questions, and documented architecture. Our answer is one idea: let the model talk, and let code decide facts and permissions.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down the list. Policy answers carry clause citations, and each citation opens the policy text. Personal data comes from the employee's own records. Day counts and eligibility are computed by tested rule code, not by the model. Applying for leave produces a draft the employee confirms. Managers get approvals and team availability for their own direct reports. Planning compares leave options across holidays. The screenshot is the real application after sign-in as Ravi, an employee.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Live demo: sign in as Ravi and ask what the notice period is after resigning. Point at the answer: each rule has a clause chip like POL-05 section 3.1, and clicking it opens the policy text. 'How I got this' shows the tool call behind the answer, and the tag shows the detected intent and the time. Explain that the text appears only after the verifier has checked it, which is why the answer arrives as a whole and not word by word. Note that the assistant says the policies are illustrative samples.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Live demo: ask to take annual leave from 2 to 6 November. The assistant checks every rule and stores a draft; it shows a confirmation card with the leave type, dates and working days, and says nothing has been submitted. Click Confirm. The request appears as pending in the side panel and the manager is asked to approve. The key design point: the model never sees the draft id and has no tool that submits. Only the Confirm click, or a bare 'yes' handled by code, creates the request, and confirmation re-checks eligibility.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Switch to Arjun, a manager. His panel shows requests waiting for his approval, and only from his direct reports: the filter is inside the database query, so a bug in the agent cannot widen access. Approving or rejecting is one click. The phone screenshot is the same app at 390 pixels wide; a real-browser test checks that there is no sideways scrolling.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design principle behind everything else. Which employee is asking comes from the signed token, never from the model. Every number, date and eligibility result comes from tested Python reached through tools. Policy wording comes from retrieved sections cited by clause. Whether an answer may be shown is decided by a deterministic verifier. Whether leave is submitted is decided by the employee through an endpoint the model cannot call. The model is good at language; it is never the authority on facts or permissions.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Read left to right. Users reach a custom web app, which talks to a FastAPI gateway that checks the login token, rate limits and attaches the verified identity. The LangGraph agent is the core: it calls Claude, uses ten scoped tools built on tested leave rules, searches policies, and for planning questions hands off to a read-only Deep Agents path. Everything lands in one SQLite file: HR data, leave drafts, the policy index, the audit log and the chat history. Choosing SQLite keeps setup to zero for reviewers; the trade-off is a single writer, and moving to Postgres is a documented migration.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Every message passes the input guardrail, then a small fast model, Haiku, labels the intent with a confidence. A plain Python function, not the model, chooses the route. Most questions take the everyday route: Sonnet picks from the tools its role allows, up to five calls, and drafts a cited answer. Small routes handle clarifying questions, out-of-scope requests, small talk and sensitive topics, where code even chooses the tools. Multi-step planning goes to Deep Agents. All drafted answers pass the same verifier. A failed draft is rewritten up to twice and then replaced by a plain answer built from the tool output. If planning fails, the everyday tool loop answers instead.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LangGraph gives us a fixed spine. Safety steps are graph nodes the model cannot skip. Routing is plain code, so behaviour is predictable and testable. Conversation memory and live progress streaming are built in, and the tests run the whole graph with a scripted fake model. Deep Agents earns its place only where planning and delegation help: multi-step questions. Sub-agents get clean contexts and the faster model. We fence it hard, because its defaults include file and shell tools: read-only tools, 12 tool calls, 3 sub-agent runs and 22 seconds. Be upfront about the cost: the planning path is slow, median 32 seconds, which is why simple questions never take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Offline, the eight policy files are split into one chunk per numbered section, 53 sections in total, each carrying its policy id, version and clause ids. Each chunk is embedded locally with bge-small and stored in SQLite next to a keyword index. Online, a question searches keywords and meaning in parallel, takes the top 50 of each, and merges them by reciprocal rank fusion into the top five. There is no reranker; with 53 sections it was not needed. The confidence gate has three tiers: confident at 0.655 or higher, a flagged weak match between 0.50 and 0.655, and nothing below 0.50, where the assistant says it could not find the answer and gives the HR contact. The weak tier exists because evaluation showed rephrased questions score lower even when the policy answers them.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Follow the chain. The model proposes a tool name and arguments, such as dates and a leave type, and nothing else. The server adds the employee id and role from the signed token. The tool call is checked: is the tool allowed for this role, and are the arguments valid? Unknown arguments, like an employee id, are rejected and audited. Tools call pure, tested domain rules, and repositories whose SQL is filtered by employee or manager id, so a manager can only ever see direct reports because the filter is in the query itself. Every call, including refused ones, is written to the audit log. Below are the other protections: argon2 password hashes, 60-minute tokens, lockout after five failures, a per-employee rate limit, and a strict content-security policy.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After every draft, plain code checks that each number and date appears in the tool results or in the user's message, that every citation was retrieved in this turn, that a policy answer using confident results cites its source, that no other employee's name appears, and that sensitive replies stay within four sentences. A failed draft is rewritten with the exact problems named, up to twice, and then replaced by a plain answer built only from the tool output. In the evaluation, 9 of 120 development answers needed a rewrite, and none of the 180 answers across all three sets fell back to the template. One known gap: numbers written as words, like 'sixty days', are not checked.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sets. The held-out set of 30 was written before any results, never tuned against, and run once: 29 of 30, with a 95 percent interval of 83 to 99. The development set of 120 scored 119, but that is the set we tuned against, so treat it as optimistic. The red-team set of 30 attacks passed 30 of 30 on both runs: nothing leaked and nothing was written. Almost everything is checked by code rather than by a model judge: numbers computed from the database by an oracle, citations, which tools were called, and that no unconfirmed write happened. The evaluation also found a real defect, a sentence counter that merged two sentences after an email address; it was fixed with a regression test. Say plainly what the numbers cannot show: the same team wrote the system and the tests, the samples are small, and the world is ten fictional employees.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Latency was measured one request at a time. Ordinary questions finish in a median of one to six seconds, but the complete answer arrives only after verification. Planning takes a median of 32 seconds and 51 at the 95th percentile, which misses our 30-second target; we say so plainly and it is first on the improvement list. On quality: 448 automated tests, all passing, a clean linter, real-browser tests of the UI including phone width, a CI pipeline that has passed on GitHub, a Docker image with a smoke test, and pinned dependencies. The security policy forbids inline scripts and styles, and every tool call is audited.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Close with candour. Known limits: planning is slow; the testing used ten fictional employees and about 50 sample policy sections; the evaluation was written by the same team; numbers written as words are not verified; there is no load test and the rate limits live in memory; observability is a trace id and an audit log, with no tracing yet. Next steps: prompt caching and fewer model round trips for planning, retries with backoff, tracing, cancelling a request through chat, longer memory, real policies with single sign-on and HTTPS, and an independent review of the evaluation. One dated item: Haiku 4.5 is announced to retire no sooner than 15 October 2026, so the router moves to Sonnet before then. Finish on the principle: built to be trusted first and fast second.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Reference slide. The same system in nine layers, drawn from docs/ARCHITECTURE.md. Zoom in on the PNG in docs/diagrams/architecture/png for detail.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Reference slide. The planner delegates to two read-only sub-agents inside shared budgets, and falls back to the normal tool loop if it fails.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730"/>
        </a:solidFill>
        <a:effectLst/>
      </p:bgPr>
    </p:bg>
    <p:spTree>
      <p:nvGrpSpPr>
        <p:cNvPr id="1" name=""/>
        <p:cNvGrpSpPr/>
        <p:nvPr/>
      </p:nvGrpSpPr>
      <p:grpSpPr/>
      <p:sp>
        <p:nvSpPr>
          <p:cNvPr id="2" name="Rounded Rectangle 1"/>
          <p:cNvSpPr/>
          <p:nvPr/>
        </p:nvSpPr>
        <p:spPr>
          <a:xfrm>
            <a:off x="9052560" y="1691640"/>
            <a:ext cx="2377440" cy="237744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9600" b="1" i="0">
                <a:solidFill>
                  <a:srgbClr val="FFFFFF"/>
                </a:solidFill>
                <a:latin typeface="Calibri" panose="020F0502020204030204"/>
              </a:rPr>
              <a:t>HR</a:t>
            </a:r>
            <a:endParaRPr sz="9600" b="1" i="0">
              <a:solidFill>
                <a:srgbClr val="FFFFFF"/>
              </a:solidFill>
              <a:latin typeface="Calibri" panose="020F0502020204030204"/>
            </a:endParaRPr>
          </a:p>
        </p:txBody>
      </p:sp>
      <p:sp>
        <p:nvSpPr>
          <p:cNvPr id="3" name="TextBox 2"/>
          <p:cNvSpPr txBox="1"/>
          <p:nvPr/>
        </p:nvSpPr>
        <p:spPr>
          <a:xfrm>
            <a:off x="731520" y="1508760"/>
            <a:ext cx="8046720" cy="1188720"/>
          </a:xfrm>
          <a:prstGeom prst="rect">
            <a:avLst/>
          </a:prstGeom>
          <a:noFill/>
        </p:spPr>
        <p:txBody>
          <a:bodyPr wrap="square" lIns="45720" tIns="27432" rIns="45720" bIns="27432" anchor="t">
            <a:spAutoFit/>
          </a:bodyPr>
          <a:lstStyle/>
          <a:p>
            <a:pPr algn="l">
              <a:spcAft>
                <a:spcPts val="600"/>
              </a:spcAft>
            </a:pPr>
            <a:r>
              <a:rPr sz="6000" b="1" i="0">
                <a:solidFill>
                  <a:srgbClr val="FFFFFF"/>
                </a:solidFill>
                <a:latin typeface="Calibri" panose="020F0502020204030204"/>
              </a:rPr>
              <a:t>HR Chat Agent</a:t>
            </a:r>
            <a:endParaRPr sz="6000" b="1" i="0">
              <a:solidFill>
                <a:srgbClr val="FFFFFF"/>
              </a:solidFill>
              <a:latin typeface="Calibri" panose="020F0502020204030204"/>
            </a:endParaRPr>
          </a:p>
        </p:txBody>
      </p:sp>
      <p:sp>
        <p:nvSpPr>
          <p:cNvPr id="4" name="TextBox 3"/>
          <p:cNvSpPr txBox="1"/>
          <p:nvPr/>
        </p:nvSpPr>
        <p:spPr>
          <a:xfrm>
            <a:off x="731520" y="2743200"/>
            <a:ext cx="8046720" cy="1005840"/>
          </a:xfrm>
          <a:prstGeom prst="rect">
            <a:avLst/>
          </a:prstGeom>
          <a:noFill/>
        </p:spPr>
        <p:txBody>
          <a:bodyPr wrap="square" lIns="45720" tIns="27432" rIns="45720" bIns="27432" anchor="t">
            <a:spAutoFit/>
          </a:bodyPr>
          <a:lstStyle/>
          <a:p>
            <a:pPr algn="l">
              <a:spcAft>
                <a:spcPts val="600"/>
              </a:spcAft>
            </a:pPr>
            <a:r>
              <a:rPr sz="2800" b="0" i="0">
                <a:solidFill>
                  <a:srgbClr val="C4D2EA"/>
                </a:solidFill>
                <a:latin typeface="Calibri" panose="020F0502020204030204"/>
              </a:rPr>
              <a:t>An HR assistant you can trust with real numbers</a:t>
            </a:r>
            <a:endParaRPr sz="2800" b="0" i="0">
              <a:solidFill>
                <a:srgbClr val="C4D2EA"/>
              </a:solidFill>
              <a:latin typeface="Calibri" panose="020F0502020204030204"/>
            </a:endParaRPr>
          </a:p>
        </p:txBody>
      </p:sp>
      <p:sp>
        <p:nvSpPr>
          <p:cNvPr id="5" name="TextBox 4"/>
          <p:cNvSpPr txBox="1"/>
          <p:nvPr/>
        </p:nvSpPr>
        <p:spPr>
          <a:xfrm>
            <a:off x="731520" y="4023360"/>
            <a:ext cx="8046720" cy="914400"/>
          </a:xfrm>
          <a:prstGeom prst="rect">
            <a:avLst/>
          </a:prstGeom>
          <a:noFill/>
        </p:spPr>
        <p:txBody>
          <a:bodyPr wrap="square" lIns="45720" tIns="27432" rIns="45720" bIns="27432" anchor="t">
            <a:spAutoFit/>
          </a:bodyPr>
          <a:lstStyle/>
          <a:p>
            <a:pPr algn="l">
              <a:spcAft>
                <a:spcPts val="600"/>
              </a:spcAft>
            </a:pPr>
            <a:r>
              <a:rPr sz="1800" b="0" i="0">
                <a:solidFill>
                  <a:srgbClr val="C4D2EA"/>
                </a:solidFill>
                <a:latin typeface="Calibri" panose="020F0502020204030204"/>
              </a:rPr>
              <a:t>Answers from policy  ·  reads your own records  ·  never submits anything without your confirmation</a:t>
            </a:r>
            <a:endParaRPr sz="1800" b="0" i="0">
              <a:solidFill>
                <a:srgbClr val="C4D2EA"/>
              </a:solidFill>
              <a:latin typeface="Calibri" panose="020F0502020204030204"/>
            </a:endParaRPr>
          </a:p>
        </p:txBody>
      </p:sp>
      <p:sp>
        <p:nvSpPr>
          <p:cNvPr id="6" name="TextBox 5"/>
          <p:cNvSpPr txBox="1"/>
          <p:nvPr/>
        </p:nvSpPr>
        <p:spPr>
          <a:xfrm>
            <a:off x="731520" y="5669280"/>
            <a:ext cx="8229600" cy="300355"/>
          </a:xfrm>
          <a:prstGeom prst="rect">
            <a:avLst/>
          </a:prstGeom>
          <a:noFill/>
        </p:spPr>
        <p:txBody>
          <a:bodyPr wrap="square" lIns="45720" tIns="27432" rIns="45720" bIns="27432" anchor="t">
            <a:spAutoFit/>
          </a:bodyPr>
          <a:lstStyle/>
          <a:p>
            <a:pPr algn="l">
              <a:spcAft>
                <a:spcPts val="600"/>
              </a:spcAft>
            </a:pPr>
            <a:r>
              <a:rPr sz="1600" b="0" i="0">
                <a:solidFill>
                  <a:srgbClr val="8FA6C9"/>
                </a:solidFill>
                <a:latin typeface="Calibri" panose="020F0502020204030204"/>
              </a:rPr>
              <a:t>AI Master evaluation  ·  Sabari</a:t>
            </a:r>
            <a:r>
              <a:rPr lang="en-US" sz="1600" b="0" i="0">
                <a:solidFill>
                  <a:srgbClr val="8FA6C9"/>
                </a:solidFill>
                <a:latin typeface="Calibri" panose="020F0502020204030204"/>
              </a:rPr>
              <a:t>nath V  </a:t>
            </a:r>
            <a:r>
              <a:rPr sz="1600">
                <a:solidFill>
                  <a:srgbClr val="8FA6C9"/>
                </a:solidFill>
                <a:latin typeface="Calibri" panose="020F0502020204030204"/>
                <a:sym typeface="+mn-ea"/>
              </a:rPr>
              <a:t>· </a:t>
            </a:r>
            <a:r>
              <a:rPr lang="en-US" sz="1600" b="0" i="0">
                <a:solidFill>
                  <a:srgbClr val="8FA6C9"/>
                </a:solidFill>
                <a:latin typeface="Calibri" panose="020F0502020204030204"/>
              </a:rPr>
              <a:t> Emp Id: I21229 </a:t>
            </a:r>
            <a:endParaRPr lang="en-US" sz="1600" b="0" i="0">
              <a:solidFill>
                <a:srgbClr val="8FA6C9"/>
              </a:solidFill>
              <a:latin typeface="Calibri" panose="020F0502020204030204"/>
            </a:endParaRPr>
          </a:p>
        </p:txBody>
      </p:sp>
      <p:sp>
        <p:nvSpPr>
          <p:cNvPr id="7" name="TextBox 6"/>
          <p:cNvSpPr txBox="1"/>
          <p:nvPr/>
        </p:nvSpPr>
        <p:spPr>
          <a:xfrm>
            <a:off x="731520" y="6126480"/>
            <a:ext cx="10058400" cy="365760"/>
          </a:xfrm>
          <a:prstGeom prst="rect">
            <a:avLst/>
          </a:prstGeom>
          <a:noFill/>
        </p:spPr>
        <p:txBody>
          <a:bodyPr wrap="square" lIns="45720" tIns="27432" rIns="45720" bIns="27432" anchor="t">
            <a:spAutoFit/>
          </a:bodyPr>
          <a:lstStyle/>
          <a:p>
            <a:pPr algn="l">
              <a:spcAft>
                <a:spcPts val="600"/>
              </a:spcAft>
            </a:pPr>
            <a:r>
              <a:rPr sz="1200" b="0" i="0">
                <a:solidFill>
                  <a:srgbClr val="8FA6C9"/>
                </a:solidFill>
                <a:latin typeface="Calibri" panose="020F0502020204030204"/>
              </a:rPr>
              <a:t>Sample data and sample policies, written for this demonstration</a:t>
            </a:r>
            <a:endParaRPr sz="1200" b="0" i="0">
              <a:solidFill>
                <a:srgbClr val="8FA6C9"/>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The problem we set out to solve</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2</a:t>
            </a:r>
            <a:endParaRPr sz="1050" b="0" i="0">
              <a:solidFill>
                <a:srgbClr val="556278"/>
              </a:solidFill>
              <a:latin typeface="Calibri" panose="020F0502020204030204"/>
            </a:endParaRPr>
          </a:p>
        </p:txBody>
      </p:sp>
      <p:sp>
        <p:nvSpPr>
          <p:cNvPr id="6" name="Rounded Rectangle 5"/>
          <p:cNvSpPr/>
          <p:nvPr/>
        </p:nvSpPr>
        <p:spPr>
          <a:xfrm>
            <a:off x="548640" y="1645920"/>
            <a:ext cx="5394960" cy="3383280"/>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 name="Rectangle 6"/>
          <p:cNvSpPr/>
          <p:nvPr/>
        </p:nvSpPr>
        <p:spPr>
          <a:xfrm>
            <a:off x="548640" y="1645920"/>
            <a:ext cx="82296" cy="33832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 name="TextBox 7"/>
          <p:cNvSpPr txBox="1"/>
          <p:nvPr/>
        </p:nvSpPr>
        <p:spPr>
          <a:xfrm>
            <a:off x="777240" y="1783080"/>
            <a:ext cx="5029200" cy="457200"/>
          </a:xfrm>
          <a:prstGeom prst="rect">
            <a:avLst/>
          </a:prstGeom>
          <a:noFill/>
        </p:spPr>
        <p:txBody>
          <a:bodyPr wrap="square" lIns="45720" tIns="27432" rIns="45720" bIns="27432" anchor="t">
            <a:spAutoFit/>
          </a:bodyPr>
          <a:lstStyle/>
          <a:p>
            <a:pPr algn="l">
              <a:spcAft>
                <a:spcPts val="600"/>
              </a:spcAft>
            </a:pPr>
            <a:r>
              <a:rPr sz="1700" b="1" i="0">
                <a:solidFill>
                  <a:srgbClr val="0D9488"/>
                </a:solidFill>
                <a:latin typeface="Calibri" panose="020F0502020204030204"/>
              </a:rPr>
              <a:t>What employees face</a:t>
            </a:r>
            <a:endParaRPr sz="1700" b="1" i="0">
              <a:solidFill>
                <a:srgbClr val="0D9488"/>
              </a:solidFill>
              <a:latin typeface="Calibri" panose="020F0502020204030204"/>
            </a:endParaRPr>
          </a:p>
        </p:txBody>
      </p:sp>
      <p:sp>
        <p:nvSpPr>
          <p:cNvPr id="9" name="TextBox 8"/>
          <p:cNvSpPr txBox="1"/>
          <p:nvPr/>
        </p:nvSpPr>
        <p:spPr>
          <a:xfrm>
            <a:off x="777240" y="2286000"/>
            <a:ext cx="4983480" cy="2651760"/>
          </a:xfrm>
          <a:prstGeom prst="rect">
            <a:avLst/>
          </a:prstGeom>
          <a:noFill/>
        </p:spPr>
        <p:txBody>
          <a:bodyPr wrap="square" lIns="45720" tIns="27432" rIns="45720" bIns="27432" anchor="t">
            <a:spAutoFit/>
          </a:bodyPr>
          <a:lstStyle/>
          <a:p>
            <a:pPr marL="247015" indent="-247015" algn="l">
              <a:spcAft>
                <a:spcPts val="700"/>
              </a:spcAft>
              <a:buChar char="•"/>
            </a:pPr>
            <a:r>
              <a:rPr sz="1800" b="0" i="0">
                <a:solidFill>
                  <a:srgbClr val="0F1B2D"/>
                </a:solidFill>
                <a:latin typeface="Calibri" panose="020F0502020204030204"/>
              </a:rPr>
              <a:t>Policy answers are scattered across documents</a:t>
            </a:r>
            <a:endParaRPr sz="1800" b="0" i="0">
              <a:solidFill>
                <a:srgbClr val="0F1B2D"/>
              </a:solidFill>
              <a:latin typeface="Calibri" panose="020F0502020204030204"/>
            </a:endParaRPr>
          </a:p>
          <a:p>
            <a:pPr marL="247015" indent="-247015" algn="l">
              <a:spcAft>
                <a:spcPts val="700"/>
              </a:spcAft>
              <a:buChar char="•"/>
            </a:pPr>
            <a:r>
              <a:rPr sz="1800" b="0" i="0">
                <a:solidFill>
                  <a:srgbClr val="0F1B2D"/>
                </a:solidFill>
                <a:latin typeface="Calibri" panose="020F0502020204030204"/>
              </a:rPr>
              <a:t>Leave balances and eligibility need rules plus personal data, not guesses</a:t>
            </a:r>
            <a:endParaRPr sz="1800" b="0" i="0">
              <a:solidFill>
                <a:srgbClr val="0F1B2D"/>
              </a:solidFill>
              <a:latin typeface="Calibri" panose="020F0502020204030204"/>
            </a:endParaRPr>
          </a:p>
          <a:p>
            <a:pPr marL="247015" indent="-247015" algn="l">
              <a:spcAft>
                <a:spcPts val="700"/>
              </a:spcAft>
              <a:buChar char="•"/>
            </a:pPr>
            <a:r>
              <a:rPr sz="1800" b="0" i="0">
                <a:solidFill>
                  <a:srgbClr val="0F1B2D"/>
                </a:solidFill>
                <a:latin typeface="Calibri" panose="020F0502020204030204"/>
              </a:rPr>
              <a:t>One wrong number in an HR answer costs trust, and can cost money</a:t>
            </a:r>
            <a:endParaRPr sz="1800" b="0" i="0">
              <a:solidFill>
                <a:srgbClr val="0F1B2D"/>
              </a:solidFill>
              <a:latin typeface="Calibri" panose="020F0502020204030204"/>
            </a:endParaRPr>
          </a:p>
        </p:txBody>
      </p:sp>
      <p:sp>
        <p:nvSpPr>
          <p:cNvPr id="10" name="Rounded Rectangle 9"/>
          <p:cNvSpPr/>
          <p:nvPr/>
        </p:nvSpPr>
        <p:spPr>
          <a:xfrm>
            <a:off x="6217920" y="1645920"/>
            <a:ext cx="5394960" cy="3383280"/>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 name="Rectangle 10"/>
          <p:cNvSpPr/>
          <p:nvPr/>
        </p:nvSpPr>
        <p:spPr>
          <a:xfrm>
            <a:off x="6217920" y="1645920"/>
            <a:ext cx="82296" cy="33832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2" name="TextBox 11"/>
          <p:cNvSpPr txBox="1"/>
          <p:nvPr/>
        </p:nvSpPr>
        <p:spPr>
          <a:xfrm>
            <a:off x="6446520" y="1783080"/>
            <a:ext cx="5029200" cy="457200"/>
          </a:xfrm>
          <a:prstGeom prst="rect">
            <a:avLst/>
          </a:prstGeom>
          <a:noFill/>
        </p:spPr>
        <p:txBody>
          <a:bodyPr wrap="square" lIns="45720" tIns="27432" rIns="45720" bIns="27432" anchor="t">
            <a:spAutoFit/>
          </a:bodyPr>
          <a:lstStyle/>
          <a:p>
            <a:pPr algn="l">
              <a:spcAft>
                <a:spcPts val="600"/>
              </a:spcAft>
            </a:pPr>
            <a:r>
              <a:rPr sz="1700" b="1" i="0">
                <a:solidFill>
                  <a:srgbClr val="2563EB"/>
                </a:solidFill>
                <a:latin typeface="Calibri" panose="020F0502020204030204"/>
              </a:rPr>
              <a:t>What the brief asked for</a:t>
            </a:r>
            <a:endParaRPr sz="1700" b="1" i="0">
              <a:solidFill>
                <a:srgbClr val="2563EB"/>
              </a:solidFill>
              <a:latin typeface="Calibri" panose="020F0502020204030204"/>
            </a:endParaRPr>
          </a:p>
        </p:txBody>
      </p:sp>
      <p:sp>
        <p:nvSpPr>
          <p:cNvPr id="13" name="TextBox 12"/>
          <p:cNvSpPr txBox="1"/>
          <p:nvPr/>
        </p:nvSpPr>
        <p:spPr>
          <a:xfrm>
            <a:off x="6446520" y="2286000"/>
            <a:ext cx="4983480" cy="2651760"/>
          </a:xfrm>
          <a:prstGeom prst="rect">
            <a:avLst/>
          </a:prstGeom>
          <a:noFill/>
        </p:spPr>
        <p:txBody>
          <a:bodyPr wrap="square" lIns="45720" tIns="27432" rIns="45720" bIns="27432" anchor="t">
            <a:spAutoFit/>
          </a:bodyPr>
          <a:lstStyle/>
          <a:p>
            <a:pPr marL="247015" indent="-247015" algn="l">
              <a:spcAft>
                <a:spcPts val="700"/>
              </a:spcAft>
              <a:buChar char="•"/>
            </a:pPr>
            <a:r>
              <a:rPr sz="1800" b="0" i="0">
                <a:solidFill>
                  <a:srgbClr val="0F1B2D"/>
                </a:solidFill>
                <a:latin typeface="Calibri" panose="020F0502020204030204"/>
              </a:rPr>
              <a:t>Employees sign in, and every answer is for the right person</a:t>
            </a:r>
            <a:endParaRPr sz="1800" b="0" i="0">
              <a:solidFill>
                <a:srgbClr val="0F1B2D"/>
              </a:solidFill>
              <a:latin typeface="Calibri" panose="020F0502020204030204"/>
            </a:endParaRPr>
          </a:p>
          <a:p>
            <a:pPr marL="247015" indent="-247015" algn="l">
              <a:spcAft>
                <a:spcPts val="700"/>
              </a:spcAft>
              <a:buChar char="•"/>
            </a:pPr>
            <a:r>
              <a:rPr sz="1800" b="0" i="0">
                <a:solidFill>
                  <a:srgbClr val="0F1B2D"/>
                </a:solidFill>
                <a:latin typeface="Calibri" panose="020F0502020204030204"/>
              </a:rPr>
              <a:t>Answers come from the HR policy documents, with their source</a:t>
            </a:r>
            <a:endParaRPr sz="1800" b="0" i="0">
              <a:solidFill>
                <a:srgbClr val="0F1B2D"/>
              </a:solidFill>
              <a:latin typeface="Calibri" panose="020F0502020204030204"/>
            </a:endParaRPr>
          </a:p>
          <a:p>
            <a:pPr marL="247015" indent="-247015" algn="l">
              <a:spcAft>
                <a:spcPts val="700"/>
              </a:spcAft>
              <a:buChar char="•"/>
            </a:pPr>
            <a:r>
              <a:rPr sz="1800" b="0" i="0">
                <a:solidFill>
                  <a:srgbClr val="0F1B2D"/>
                </a:solidFill>
                <a:latin typeface="Calibri" panose="020F0502020204030204"/>
              </a:rPr>
              <a:t>Tools and a database answer the dynamic questions: leave balance, eligibility, calculations</a:t>
            </a:r>
            <a:endParaRPr sz="1800" b="0" i="0">
              <a:solidFill>
                <a:srgbClr val="0F1B2D"/>
              </a:solidFill>
              <a:latin typeface="Calibri" panose="020F0502020204030204"/>
            </a:endParaRPr>
          </a:p>
          <a:p>
            <a:pPr marL="247015" indent="-247015" algn="l">
              <a:spcAft>
                <a:spcPts val="700"/>
              </a:spcAft>
              <a:buChar char="•"/>
            </a:pPr>
            <a:r>
              <a:rPr sz="1800" b="0" i="0">
                <a:solidFill>
                  <a:srgbClr val="0F1B2D"/>
                </a:solidFill>
                <a:latin typeface="Calibri" panose="020F0502020204030204"/>
              </a:rPr>
              <a:t>Architecture that is documented and can be evaluated</a:t>
            </a:r>
            <a:endParaRPr sz="1800" b="0" i="0">
              <a:solidFill>
                <a:srgbClr val="0F1B2D"/>
              </a:solidFill>
              <a:latin typeface="Calibri" panose="020F0502020204030204"/>
            </a:endParaRPr>
          </a:p>
        </p:txBody>
      </p:sp>
      <p:sp>
        <p:nvSpPr>
          <p:cNvPr id="14" name="Rounded Rectangle 13"/>
          <p:cNvSpPr/>
          <p:nvPr/>
        </p:nvSpPr>
        <p:spPr>
          <a:xfrm>
            <a:off x="548640" y="5303520"/>
            <a:ext cx="11064240" cy="868680"/>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2200" b="1" i="0">
                <a:solidFill>
                  <a:srgbClr val="FFFFFF"/>
                </a:solidFill>
                <a:latin typeface="Calibri" panose="020F0502020204030204"/>
              </a:rPr>
              <a:t>Our answer: the model talks, and code decides facts and permissions.</a:t>
            </a:r>
            <a:endParaRPr sz="2200" b="1" i="0">
              <a:solidFill>
                <a:srgbClr val="FFFFFF"/>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What it does</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3</a:t>
            </a:r>
            <a:endParaRPr sz="1050" b="0" i="0">
              <a:solidFill>
                <a:srgbClr val="556278"/>
              </a:solidFill>
              <a:latin typeface="Calibri" panose="020F0502020204030204"/>
            </a:endParaRPr>
          </a:p>
        </p:txBody>
      </p:sp>
      <p:sp>
        <p:nvSpPr>
          <p:cNvPr id="6" name="TextBox 5"/>
          <p:cNvSpPr txBox="1"/>
          <p:nvPr/>
        </p:nvSpPr>
        <p:spPr>
          <a:xfrm>
            <a:off x="548640" y="1645920"/>
            <a:ext cx="5394960" cy="4572000"/>
          </a:xfrm>
          <a:prstGeom prst="rect">
            <a:avLst/>
          </a:prstGeom>
          <a:noFill/>
        </p:spPr>
        <p:txBody>
          <a:bodyPr wrap="square" lIns="45720" tIns="27432" rIns="45720" bIns="27432" anchor="t">
            <a:spAutoFit/>
          </a:bodyPr>
          <a:lstStyle/>
          <a:p>
            <a:pPr algn="l">
              <a:spcAft>
                <a:spcPts val="1400"/>
              </a:spcAft>
            </a:pPr>
            <a:r>
              <a:rPr sz="1800" b="1" i="0">
                <a:solidFill>
                  <a:srgbClr val="0A1730"/>
                </a:solidFill>
                <a:latin typeface="Calibri" panose="020F0502020204030204"/>
              </a:rPr>
              <a:t>Policy answers</a:t>
            </a:r>
            <a:r>
              <a:rPr sz="1800" b="0" i="0">
                <a:solidFill>
                  <a:srgbClr val="0F1B2D"/>
                </a:solidFill>
                <a:latin typeface="Calibri" panose="020F0502020204030204"/>
              </a:rPr>
              <a:t>  with clause citations that open the policy text</a:t>
            </a:r>
            <a:endParaRPr sz="1800" b="0" i="0">
              <a:solidFill>
                <a:srgbClr val="0F1B2D"/>
              </a:solidFill>
              <a:latin typeface="Calibri" panose="020F0502020204030204"/>
            </a:endParaRPr>
          </a:p>
          <a:p>
            <a:pPr algn="l">
              <a:spcAft>
                <a:spcPts val="1400"/>
              </a:spcAft>
            </a:pPr>
            <a:r>
              <a:rPr sz="1800" b="1" i="0">
                <a:solidFill>
                  <a:srgbClr val="0A1730"/>
                </a:solidFill>
                <a:latin typeface="Calibri" panose="020F0502020204030204"/>
              </a:rPr>
              <a:t>Your leave data</a:t>
            </a:r>
            <a:r>
              <a:rPr sz="1800" b="0" i="0">
                <a:solidFill>
                  <a:srgbClr val="0F1B2D"/>
                </a:solidFill>
                <a:latin typeface="Calibri" panose="020F0502020204030204"/>
              </a:rPr>
              <a:t>  balances, requests and holidays from your own records</a:t>
            </a:r>
            <a:endParaRPr sz="1800" b="0" i="0">
              <a:solidFill>
                <a:srgbClr val="0F1B2D"/>
              </a:solidFill>
              <a:latin typeface="Calibri" panose="020F0502020204030204"/>
            </a:endParaRPr>
          </a:p>
          <a:p>
            <a:pPr algn="l">
              <a:spcAft>
                <a:spcPts val="1400"/>
              </a:spcAft>
            </a:pPr>
            <a:r>
              <a:rPr sz="1800" b="1" i="0">
                <a:solidFill>
                  <a:srgbClr val="0A1730"/>
                </a:solidFill>
                <a:latin typeface="Calibri" panose="020F0502020204030204"/>
              </a:rPr>
              <a:t>Day counts and eligibility</a:t>
            </a:r>
            <a:r>
              <a:rPr sz="1800" b="0" i="0">
                <a:solidFill>
                  <a:srgbClr val="0F1B2D"/>
                </a:solidFill>
                <a:latin typeface="Calibri" panose="020F0502020204030204"/>
              </a:rPr>
              <a:t>  from tested rule code, not from the model</a:t>
            </a:r>
            <a:endParaRPr sz="1800" b="0" i="0">
              <a:solidFill>
                <a:srgbClr val="0F1B2D"/>
              </a:solidFill>
              <a:latin typeface="Calibri" panose="020F0502020204030204"/>
            </a:endParaRPr>
          </a:p>
          <a:p>
            <a:pPr algn="l">
              <a:spcAft>
                <a:spcPts val="1400"/>
              </a:spcAft>
            </a:pPr>
            <a:r>
              <a:rPr sz="1800" b="1" i="0">
                <a:solidFill>
                  <a:srgbClr val="0A1730"/>
                </a:solidFill>
                <a:latin typeface="Calibri" panose="020F0502020204030204"/>
              </a:rPr>
              <a:t>Apply for leave</a:t>
            </a:r>
            <a:r>
              <a:rPr sz="1800" b="0" i="0">
                <a:solidFill>
                  <a:srgbClr val="0F1B2D"/>
                </a:solidFill>
                <a:latin typeface="Calibri" panose="020F0502020204030204"/>
              </a:rPr>
              <a:t>  the assistant prepares a draft, you confirm it</a:t>
            </a:r>
            <a:endParaRPr sz="1800" b="0" i="0">
              <a:solidFill>
                <a:srgbClr val="0F1B2D"/>
              </a:solidFill>
              <a:latin typeface="Calibri" panose="020F0502020204030204"/>
            </a:endParaRPr>
          </a:p>
          <a:p>
            <a:pPr algn="l">
              <a:spcAft>
                <a:spcPts val="1400"/>
              </a:spcAft>
            </a:pPr>
            <a:r>
              <a:rPr sz="1800" b="1" i="0">
                <a:solidFill>
                  <a:srgbClr val="0A1730"/>
                </a:solidFill>
                <a:latin typeface="Calibri" panose="020F0502020204030204"/>
              </a:rPr>
              <a:t>Manager tools</a:t>
            </a:r>
            <a:r>
              <a:rPr sz="1800" b="0" i="0">
                <a:solidFill>
                  <a:srgbClr val="0F1B2D"/>
                </a:solidFill>
                <a:latin typeface="Calibri" panose="020F0502020204030204"/>
              </a:rPr>
              <a:t>  pending approvals and team availability, for direct reports only</a:t>
            </a:r>
            <a:endParaRPr sz="1800" b="0" i="0">
              <a:solidFill>
                <a:srgbClr val="0F1B2D"/>
              </a:solidFill>
              <a:latin typeface="Calibri" panose="020F0502020204030204"/>
            </a:endParaRPr>
          </a:p>
          <a:p>
            <a:pPr algn="l">
              <a:spcAft>
                <a:spcPts val="1400"/>
              </a:spcAft>
            </a:pPr>
            <a:r>
              <a:rPr sz="1800" b="1" i="0">
                <a:solidFill>
                  <a:srgbClr val="0A1730"/>
                </a:solidFill>
                <a:latin typeface="Calibri" panose="020F0502020204030204"/>
              </a:rPr>
              <a:t>Planning</a:t>
            </a:r>
            <a:r>
              <a:rPr sz="1800" b="0" i="0">
                <a:solidFill>
                  <a:srgbClr val="0F1B2D"/>
                </a:solidFill>
                <a:latin typeface="Calibri" panose="020F0502020204030204"/>
              </a:rPr>
              <a:t>  compare leave options across holidays</a:t>
            </a:r>
            <a:endParaRPr sz="1800" b="0" i="0">
              <a:solidFill>
                <a:srgbClr val="0F1B2D"/>
              </a:solidFill>
              <a:latin typeface="Calibri" panose="020F0502020204030204"/>
            </a:endParaRPr>
          </a:p>
        </p:txBody>
      </p:sp>
      <p:pic>
        <p:nvPicPr>
          <p:cNvPr id="7" name="Picture 6" descr="02-home.png"/>
          <p:cNvPicPr>
            <a:picLocks noChangeAspect="1"/>
          </p:cNvPicPr>
          <p:nvPr/>
        </p:nvPicPr>
        <p:blipFill>
          <a:blip r:embed="rId1"/>
          <a:stretch>
            <a:fillRect/>
          </a:stretch>
        </p:blipFill>
        <p:spPr>
          <a:xfrm>
            <a:off x="6217920" y="2108835"/>
            <a:ext cx="5440680" cy="3600450"/>
          </a:xfrm>
          <a:prstGeom prst="rect">
            <a:avLst/>
          </a:prstGeom>
          <a:ln w="9525">
            <a:solidFill>
              <a:srgbClr val="D5DCE8"/>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Demo 1: a policy question, answered with its source</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4</a:t>
            </a:r>
            <a:endParaRPr sz="1050" b="0" i="0">
              <a:solidFill>
                <a:srgbClr val="556278"/>
              </a:solidFill>
              <a:latin typeface="Calibri" panose="020F0502020204030204"/>
            </a:endParaRPr>
          </a:p>
        </p:txBody>
      </p:sp>
      <p:pic>
        <p:nvPicPr>
          <p:cNvPr id="6" name="Picture 5" descr="03-policy-answer.png"/>
          <p:cNvPicPr>
            <a:picLocks noChangeAspect="1"/>
          </p:cNvPicPr>
          <p:nvPr/>
        </p:nvPicPr>
        <p:blipFill>
          <a:blip r:embed="rId1"/>
          <a:stretch>
            <a:fillRect/>
          </a:stretch>
        </p:blipFill>
        <p:spPr>
          <a:xfrm>
            <a:off x="740664" y="1600200"/>
            <a:ext cx="6839712" cy="4526280"/>
          </a:xfrm>
          <a:prstGeom prst="rect">
            <a:avLst/>
          </a:prstGeom>
          <a:ln w="9525">
            <a:solidFill>
              <a:srgbClr val="D5DCE8"/>
            </a:solidFill>
          </a:ln>
        </p:spPr>
      </p:pic>
      <p:sp>
        <p:nvSpPr>
          <p:cNvPr id="7" name="TextBox 6"/>
          <p:cNvSpPr txBox="1"/>
          <p:nvPr/>
        </p:nvSpPr>
        <p:spPr>
          <a:xfrm>
            <a:off x="548640" y="6108192"/>
            <a:ext cx="7223760" cy="274320"/>
          </a:xfrm>
          <a:prstGeom prst="rect">
            <a:avLst/>
          </a:prstGeom>
          <a:noFill/>
        </p:spPr>
        <p:txBody>
          <a:bodyPr wrap="square" lIns="45720" tIns="27432" rIns="45720" bIns="27432" anchor="t">
            <a:spAutoFit/>
          </a:bodyPr>
          <a:lstStyle/>
          <a:p>
            <a:pPr algn="l">
              <a:spcAft>
                <a:spcPts val="600"/>
              </a:spcAft>
            </a:pPr>
            <a:r>
              <a:rPr sz="1200" b="0" i="0">
                <a:solidFill>
                  <a:srgbClr val="556278"/>
                </a:solidFill>
                <a:latin typeface="Calibri" panose="020F0502020204030204"/>
              </a:rPr>
              <a:t>Asked: “What is the notice period after I resign?”  Answered in 5.6 s.</a:t>
            </a:r>
            <a:endParaRPr sz="1200" b="0" i="0">
              <a:solidFill>
                <a:srgbClr val="556278"/>
              </a:solidFill>
              <a:latin typeface="Calibri" panose="020F0502020204030204"/>
            </a:endParaRPr>
          </a:p>
        </p:txBody>
      </p:sp>
      <p:sp>
        <p:nvSpPr>
          <p:cNvPr id="8" name="Oval 7"/>
          <p:cNvSpPr/>
          <p:nvPr/>
        </p:nvSpPr>
        <p:spPr>
          <a:xfrm>
            <a:off x="8092440" y="1691640"/>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FFFFFF"/>
                </a:solidFill>
                <a:latin typeface="Calibri" panose="020F0502020204030204"/>
              </a:rPr>
              <a:t>1</a:t>
            </a:r>
            <a:endParaRPr sz="1600" b="1" i="0">
              <a:solidFill>
                <a:srgbClr val="FFFFFF"/>
              </a:solidFill>
              <a:latin typeface="Calibri" panose="020F0502020204030204"/>
            </a:endParaRPr>
          </a:p>
        </p:txBody>
      </p:sp>
      <p:sp>
        <p:nvSpPr>
          <p:cNvPr id="9" name="TextBox 8"/>
          <p:cNvSpPr txBox="1"/>
          <p:nvPr/>
        </p:nvSpPr>
        <p:spPr>
          <a:xfrm>
            <a:off x="8686800" y="1645920"/>
            <a:ext cx="3017520" cy="1097280"/>
          </a:xfrm>
          <a:prstGeom prst="rect">
            <a:avLst/>
          </a:prstGeom>
          <a:noFill/>
        </p:spPr>
        <p:txBody>
          <a:bodyPr wrap="square" lIns="45720" tIns="27432" rIns="45720" bIns="27432" anchor="t">
            <a:spAutoFit/>
          </a:bodyPr>
          <a:lstStyle/>
          <a:p>
            <a:pPr algn="l">
              <a:spcAft>
                <a:spcPts val="200"/>
              </a:spcAft>
            </a:pPr>
            <a:r>
              <a:rPr sz="1600" b="1" i="0">
                <a:solidFill>
                  <a:srgbClr val="0A1730"/>
                </a:solidFill>
                <a:latin typeface="Calibri" panose="020F0502020204030204"/>
              </a:rPr>
              <a:t>Real source</a:t>
            </a:r>
            <a:endParaRPr sz="1600" b="1" i="0">
              <a:solidFill>
                <a:srgbClr val="0A1730"/>
              </a:solidFill>
              <a:latin typeface="Calibri" panose="020F0502020204030204"/>
            </a:endParaRPr>
          </a:p>
          <a:p>
            <a:pPr algn="l">
              <a:spcAft>
                <a:spcPts val="600"/>
              </a:spcAft>
            </a:pPr>
            <a:r>
              <a:rPr sz="1350" b="0" i="0">
                <a:solidFill>
                  <a:srgbClr val="0F1B2D"/>
                </a:solidFill>
                <a:latin typeface="Calibri" panose="020F0502020204030204"/>
              </a:rPr>
              <a:t>Each rule carries a clause chip, like POL-05 §3.1. Clicking it opens the policy text.</a:t>
            </a:r>
            <a:endParaRPr sz="1350" b="0" i="0">
              <a:solidFill>
                <a:srgbClr val="0F1B2D"/>
              </a:solidFill>
              <a:latin typeface="Calibri" panose="020F0502020204030204"/>
            </a:endParaRPr>
          </a:p>
        </p:txBody>
      </p:sp>
      <p:sp>
        <p:nvSpPr>
          <p:cNvPr id="10" name="Oval 9"/>
          <p:cNvSpPr/>
          <p:nvPr/>
        </p:nvSpPr>
        <p:spPr>
          <a:xfrm>
            <a:off x="8092440" y="286207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FFFFFF"/>
                </a:solidFill>
                <a:latin typeface="Calibri" panose="020F0502020204030204"/>
              </a:rPr>
              <a:t>2</a:t>
            </a:r>
            <a:endParaRPr sz="1600" b="1" i="0">
              <a:solidFill>
                <a:srgbClr val="FFFFFF"/>
              </a:solidFill>
              <a:latin typeface="Calibri" panose="020F0502020204030204"/>
            </a:endParaRPr>
          </a:p>
        </p:txBody>
      </p:sp>
      <p:sp>
        <p:nvSpPr>
          <p:cNvPr id="11" name="TextBox 10"/>
          <p:cNvSpPr txBox="1"/>
          <p:nvPr/>
        </p:nvSpPr>
        <p:spPr>
          <a:xfrm>
            <a:off x="8686800" y="2816352"/>
            <a:ext cx="3017520" cy="1097280"/>
          </a:xfrm>
          <a:prstGeom prst="rect">
            <a:avLst/>
          </a:prstGeom>
          <a:noFill/>
        </p:spPr>
        <p:txBody>
          <a:bodyPr wrap="square" lIns="45720" tIns="27432" rIns="45720" bIns="27432" anchor="t">
            <a:spAutoFit/>
          </a:bodyPr>
          <a:lstStyle/>
          <a:p>
            <a:pPr algn="l">
              <a:spcAft>
                <a:spcPts val="200"/>
              </a:spcAft>
            </a:pPr>
            <a:r>
              <a:rPr sz="1600" b="1" i="0">
                <a:solidFill>
                  <a:srgbClr val="0A1730"/>
                </a:solidFill>
                <a:latin typeface="Calibri" panose="020F0502020204030204"/>
              </a:rPr>
              <a:t>Visible steps</a:t>
            </a:r>
            <a:endParaRPr sz="1600" b="1" i="0">
              <a:solidFill>
                <a:srgbClr val="0A1730"/>
              </a:solidFill>
              <a:latin typeface="Calibri" panose="020F0502020204030204"/>
            </a:endParaRPr>
          </a:p>
          <a:p>
            <a:pPr algn="l">
              <a:spcAft>
                <a:spcPts val="600"/>
              </a:spcAft>
            </a:pPr>
            <a:r>
              <a:rPr sz="1350" b="0" i="0">
                <a:solidFill>
                  <a:srgbClr val="0F1B2D"/>
                </a:solidFill>
                <a:latin typeface="Calibri" panose="020F0502020204030204"/>
              </a:rPr>
              <a:t>“How I got this” lists the tool calls behind the answer.</a:t>
            </a:r>
            <a:endParaRPr sz="1350" b="0" i="0">
              <a:solidFill>
                <a:srgbClr val="0F1B2D"/>
              </a:solidFill>
              <a:latin typeface="Calibri" panose="020F0502020204030204"/>
            </a:endParaRPr>
          </a:p>
        </p:txBody>
      </p:sp>
      <p:sp>
        <p:nvSpPr>
          <p:cNvPr id="12" name="Oval 11"/>
          <p:cNvSpPr/>
          <p:nvPr/>
        </p:nvSpPr>
        <p:spPr>
          <a:xfrm>
            <a:off x="8092440" y="4032504"/>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FFFFFF"/>
                </a:solidFill>
                <a:latin typeface="Calibri" panose="020F0502020204030204"/>
              </a:rPr>
              <a:t>3</a:t>
            </a:r>
            <a:endParaRPr sz="1600" b="1" i="0">
              <a:solidFill>
                <a:srgbClr val="FFFFFF"/>
              </a:solidFill>
              <a:latin typeface="Calibri" panose="020F0502020204030204"/>
            </a:endParaRPr>
          </a:p>
        </p:txBody>
      </p:sp>
      <p:sp>
        <p:nvSpPr>
          <p:cNvPr id="13" name="TextBox 12"/>
          <p:cNvSpPr txBox="1"/>
          <p:nvPr/>
        </p:nvSpPr>
        <p:spPr>
          <a:xfrm>
            <a:off x="8686800" y="3986784"/>
            <a:ext cx="3017520" cy="1097280"/>
          </a:xfrm>
          <a:prstGeom prst="rect">
            <a:avLst/>
          </a:prstGeom>
          <a:noFill/>
        </p:spPr>
        <p:txBody>
          <a:bodyPr wrap="square" lIns="45720" tIns="27432" rIns="45720" bIns="27432" anchor="t">
            <a:spAutoFit/>
          </a:bodyPr>
          <a:lstStyle/>
          <a:p>
            <a:pPr algn="l">
              <a:spcAft>
                <a:spcPts val="200"/>
              </a:spcAft>
            </a:pPr>
            <a:r>
              <a:rPr sz="1600" b="1" i="0">
                <a:solidFill>
                  <a:srgbClr val="0A1730"/>
                </a:solidFill>
                <a:latin typeface="Calibri" panose="020F0502020204030204"/>
              </a:rPr>
              <a:t>Verified first</a:t>
            </a:r>
            <a:endParaRPr sz="1600" b="1" i="0">
              <a:solidFill>
                <a:srgbClr val="0A1730"/>
              </a:solidFill>
              <a:latin typeface="Calibri" panose="020F0502020204030204"/>
            </a:endParaRPr>
          </a:p>
          <a:p>
            <a:pPr algn="l">
              <a:spcAft>
                <a:spcPts val="600"/>
              </a:spcAft>
            </a:pPr>
            <a:r>
              <a:rPr sz="1350" b="0" i="0">
                <a:solidFill>
                  <a:srgbClr val="0F1B2D"/>
                </a:solidFill>
                <a:latin typeface="Calibri" panose="020F0502020204030204"/>
              </a:rPr>
              <a:t>The text is sent only after numbers and citations have been checked.</a:t>
            </a:r>
            <a:endParaRPr sz="1350" b="0" i="0">
              <a:solidFill>
                <a:srgbClr val="0F1B2D"/>
              </a:solidFill>
              <a:latin typeface="Calibri" panose="020F0502020204030204"/>
            </a:endParaRPr>
          </a:p>
        </p:txBody>
      </p:sp>
      <p:sp>
        <p:nvSpPr>
          <p:cNvPr id="14" name="Oval 13"/>
          <p:cNvSpPr/>
          <p:nvPr/>
        </p:nvSpPr>
        <p:spPr>
          <a:xfrm>
            <a:off x="8092440" y="5202936"/>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FFFFFF"/>
                </a:solidFill>
                <a:latin typeface="Calibri" panose="020F0502020204030204"/>
              </a:rPr>
              <a:t>4</a:t>
            </a:r>
            <a:endParaRPr sz="1600" b="1" i="0">
              <a:solidFill>
                <a:srgbClr val="FFFFFF"/>
              </a:solidFill>
              <a:latin typeface="Calibri" panose="020F0502020204030204"/>
            </a:endParaRPr>
          </a:p>
        </p:txBody>
      </p:sp>
      <p:sp>
        <p:nvSpPr>
          <p:cNvPr id="15" name="TextBox 14"/>
          <p:cNvSpPr txBox="1"/>
          <p:nvPr/>
        </p:nvSpPr>
        <p:spPr>
          <a:xfrm>
            <a:off x="8686800" y="5157216"/>
            <a:ext cx="3017520" cy="1097280"/>
          </a:xfrm>
          <a:prstGeom prst="rect">
            <a:avLst/>
          </a:prstGeom>
          <a:noFill/>
        </p:spPr>
        <p:txBody>
          <a:bodyPr wrap="square" lIns="45720" tIns="27432" rIns="45720" bIns="27432" anchor="t">
            <a:spAutoFit/>
          </a:bodyPr>
          <a:lstStyle/>
          <a:p>
            <a:pPr algn="l">
              <a:spcAft>
                <a:spcPts val="200"/>
              </a:spcAft>
            </a:pPr>
            <a:r>
              <a:rPr sz="1600" b="1" i="0">
                <a:solidFill>
                  <a:srgbClr val="0A1730"/>
                </a:solidFill>
                <a:latin typeface="Calibri" panose="020F0502020204030204"/>
              </a:rPr>
              <a:t>Honest</a:t>
            </a:r>
            <a:endParaRPr sz="1600" b="1" i="0">
              <a:solidFill>
                <a:srgbClr val="0A1730"/>
              </a:solidFill>
              <a:latin typeface="Calibri" panose="020F0502020204030204"/>
            </a:endParaRPr>
          </a:p>
          <a:p>
            <a:pPr algn="l">
              <a:spcAft>
                <a:spcPts val="600"/>
              </a:spcAft>
            </a:pPr>
            <a:r>
              <a:rPr sz="1350" b="0" i="0">
                <a:solidFill>
                  <a:srgbClr val="0F1B2D"/>
                </a:solidFill>
                <a:latin typeface="Calibri" panose="020F0502020204030204"/>
              </a:rPr>
              <a:t>The assistant says the sample policies are illustrative.</a:t>
            </a:r>
            <a:endParaRPr sz="1350" b="0" i="0">
              <a:solidFill>
                <a:srgbClr val="0F1B2D"/>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Demo 2: applying for leave. The model proposes, you confirm.</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5</a:t>
            </a:r>
            <a:endParaRPr sz="1050" b="0" i="0">
              <a:solidFill>
                <a:srgbClr val="556278"/>
              </a:solidFill>
              <a:latin typeface="Calibri" panose="020F0502020204030204"/>
            </a:endParaRPr>
          </a:p>
        </p:txBody>
      </p:sp>
      <p:pic>
        <p:nvPicPr>
          <p:cNvPr id="6" name="Picture 5" descr="05-confirm-card.png"/>
          <p:cNvPicPr>
            <a:picLocks noChangeAspect="1"/>
          </p:cNvPicPr>
          <p:nvPr/>
        </p:nvPicPr>
        <p:blipFill>
          <a:blip r:embed="rId1"/>
          <a:stretch>
            <a:fillRect/>
          </a:stretch>
        </p:blipFill>
        <p:spPr>
          <a:xfrm>
            <a:off x="562863" y="1600200"/>
            <a:ext cx="5457952" cy="3611880"/>
          </a:xfrm>
          <a:prstGeom prst="rect">
            <a:avLst/>
          </a:prstGeom>
          <a:ln w="9525">
            <a:solidFill>
              <a:srgbClr val="D5DCE8"/>
            </a:solidFill>
          </a:ln>
        </p:spPr>
      </p:pic>
      <p:pic>
        <p:nvPicPr>
          <p:cNvPr id="7" name="Picture 6" descr="06-submitted.png"/>
          <p:cNvPicPr>
            <a:picLocks noChangeAspect="1"/>
          </p:cNvPicPr>
          <p:nvPr/>
        </p:nvPicPr>
        <p:blipFill>
          <a:blip r:embed="rId2"/>
          <a:stretch>
            <a:fillRect/>
          </a:stretch>
        </p:blipFill>
        <p:spPr>
          <a:xfrm>
            <a:off x="6186424" y="1600200"/>
            <a:ext cx="5457952" cy="3611880"/>
          </a:xfrm>
          <a:prstGeom prst="rect">
            <a:avLst/>
          </a:prstGeom>
          <a:ln w="9525">
            <a:solidFill>
              <a:srgbClr val="D5DCE8"/>
            </a:solidFill>
          </a:ln>
        </p:spPr>
      </p:pic>
      <p:sp>
        <p:nvSpPr>
          <p:cNvPr id="8" name="TextBox 7"/>
          <p:cNvSpPr txBox="1"/>
          <p:nvPr/>
        </p:nvSpPr>
        <p:spPr>
          <a:xfrm>
            <a:off x="548640" y="5257800"/>
            <a:ext cx="5486400" cy="320040"/>
          </a:xfrm>
          <a:prstGeom prst="rect">
            <a:avLst/>
          </a:prstGeom>
          <a:noFill/>
        </p:spPr>
        <p:txBody>
          <a:bodyPr wrap="square" lIns="45720" tIns="27432" rIns="45720" bIns="27432" anchor="t">
            <a:spAutoFit/>
          </a:bodyPr>
          <a:lstStyle/>
          <a:p>
            <a:pPr algn="ctr">
              <a:spcAft>
                <a:spcPts val="600"/>
              </a:spcAft>
            </a:pPr>
            <a:r>
              <a:rPr sz="1400" b="1" i="0">
                <a:solidFill>
                  <a:srgbClr val="0A1730"/>
                </a:solidFill>
                <a:latin typeface="Calibri" panose="020F0502020204030204"/>
              </a:rPr>
              <a:t>1   Draft prepared. Nothing is submitted yet.</a:t>
            </a:r>
            <a:endParaRPr sz="1400" b="1" i="0">
              <a:solidFill>
                <a:srgbClr val="0A1730"/>
              </a:solidFill>
              <a:latin typeface="Calibri" panose="020F0502020204030204"/>
            </a:endParaRPr>
          </a:p>
        </p:txBody>
      </p:sp>
      <p:sp>
        <p:nvSpPr>
          <p:cNvPr id="9" name="TextBox 8"/>
          <p:cNvSpPr txBox="1"/>
          <p:nvPr/>
        </p:nvSpPr>
        <p:spPr>
          <a:xfrm>
            <a:off x="6172200" y="5257800"/>
            <a:ext cx="5486400" cy="320040"/>
          </a:xfrm>
          <a:prstGeom prst="rect">
            <a:avLst/>
          </a:prstGeom>
          <a:noFill/>
        </p:spPr>
        <p:txBody>
          <a:bodyPr wrap="square" lIns="45720" tIns="27432" rIns="45720" bIns="27432" anchor="t">
            <a:spAutoFit/>
          </a:bodyPr>
          <a:lstStyle/>
          <a:p>
            <a:pPr algn="ctr">
              <a:spcAft>
                <a:spcPts val="600"/>
              </a:spcAft>
            </a:pPr>
            <a:r>
              <a:rPr sz="1400" b="1" i="0">
                <a:solidFill>
                  <a:srgbClr val="0A1730"/>
                </a:solidFill>
                <a:latin typeface="Calibri" panose="020F0502020204030204"/>
              </a:rPr>
              <a:t>2   After Confirm: the request is pending and the manager is asked.</a:t>
            </a:r>
            <a:endParaRPr sz="1400" b="1" i="0">
              <a:solidFill>
                <a:srgbClr val="0A1730"/>
              </a:solidFill>
              <a:latin typeface="Calibri" panose="020F0502020204030204"/>
            </a:endParaRPr>
          </a:p>
        </p:txBody>
      </p:sp>
      <p:sp>
        <p:nvSpPr>
          <p:cNvPr id="10" name="Rounded Rectangle 9"/>
          <p:cNvSpPr/>
          <p:nvPr/>
        </p:nvSpPr>
        <p:spPr>
          <a:xfrm>
            <a:off x="548640" y="5715000"/>
            <a:ext cx="11109960" cy="594360"/>
          </a:xfrm>
          <a:prstGeom prst="roundRect">
            <a:avLst>
              <a:gd name="adj" fmla="val 1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400" b="0" i="0">
                <a:solidFill>
                  <a:srgbClr val="0F1B2D"/>
                </a:solidFill>
                <a:latin typeface="Calibri" panose="020F0502020204030204"/>
              </a:rPr>
              <a:t>The model can prepare a draft but never sees its id. Only the Confirm click (or a bare “yes”, handled by code) creates the request, and the rules are checked again at that moment.</a:t>
            </a:r>
            <a:endParaRPr sz="1400" b="0" i="0">
              <a:solidFill>
                <a:srgbClr val="0F1B2D"/>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Managers, and the phone</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6</a:t>
            </a:r>
            <a:endParaRPr sz="1050" b="0" i="0">
              <a:solidFill>
                <a:srgbClr val="556278"/>
              </a:solidFill>
              <a:latin typeface="Calibri" panose="020F0502020204030204"/>
            </a:endParaRPr>
          </a:p>
        </p:txBody>
      </p:sp>
      <p:pic>
        <p:nvPicPr>
          <p:cNvPr id="6" name="Picture 5" descr="07-manager.png"/>
          <p:cNvPicPr>
            <a:picLocks noChangeAspect="1"/>
          </p:cNvPicPr>
          <p:nvPr/>
        </p:nvPicPr>
        <p:blipFill>
          <a:blip r:embed="rId1"/>
          <a:stretch>
            <a:fillRect/>
          </a:stretch>
        </p:blipFill>
        <p:spPr>
          <a:xfrm>
            <a:off x="548640" y="1752824"/>
            <a:ext cx="6309360" cy="4175311"/>
          </a:xfrm>
          <a:prstGeom prst="rect">
            <a:avLst/>
          </a:prstGeom>
          <a:ln w="9525">
            <a:solidFill>
              <a:srgbClr val="D5DCE8"/>
            </a:solidFill>
          </a:ln>
        </p:spPr>
      </p:pic>
      <p:pic>
        <p:nvPicPr>
          <p:cNvPr id="7" name="Picture 6" descr="08-phone.png"/>
          <p:cNvPicPr>
            <a:picLocks noChangeAspect="1"/>
          </p:cNvPicPr>
          <p:nvPr/>
        </p:nvPicPr>
        <p:blipFill>
          <a:blip r:embed="rId2"/>
          <a:stretch>
            <a:fillRect/>
          </a:stretch>
        </p:blipFill>
        <p:spPr>
          <a:xfrm>
            <a:off x="7102959" y="1600200"/>
            <a:ext cx="2070400" cy="4480560"/>
          </a:xfrm>
          <a:prstGeom prst="rect">
            <a:avLst/>
          </a:prstGeom>
          <a:ln w="9525">
            <a:solidFill>
              <a:srgbClr val="D5DCE8"/>
            </a:solidFill>
          </a:ln>
        </p:spPr>
      </p:pic>
      <p:sp>
        <p:nvSpPr>
          <p:cNvPr id="8" name="TextBox 7"/>
          <p:cNvSpPr txBox="1"/>
          <p:nvPr/>
        </p:nvSpPr>
        <p:spPr>
          <a:xfrm>
            <a:off x="9418320" y="1737360"/>
            <a:ext cx="2286000" cy="4389120"/>
          </a:xfrm>
          <a:prstGeom prst="rect">
            <a:avLst/>
          </a:prstGeom>
          <a:noFill/>
        </p:spPr>
        <p:txBody>
          <a:bodyPr wrap="square" lIns="45720" tIns="27432" rIns="45720" bIns="27432" anchor="t">
            <a:spAutoFit/>
          </a:bodyPr>
          <a:lstStyle/>
          <a:p>
            <a:pPr marL="247015" indent="-247015" algn="l">
              <a:spcAft>
                <a:spcPts val="1400"/>
              </a:spcAft>
              <a:buChar char="•"/>
            </a:pPr>
            <a:r>
              <a:rPr sz="1450" b="0" i="0">
                <a:solidFill>
                  <a:srgbClr val="0F1B2D"/>
                </a:solidFill>
                <a:latin typeface="Calibri" panose="020F0502020204030204"/>
              </a:rPr>
              <a:t>Arjun sees requests from his direct reports only. The filter is in the SQL.</a:t>
            </a:r>
            <a:endParaRPr sz="1450" b="0" i="0">
              <a:solidFill>
                <a:srgbClr val="0F1B2D"/>
              </a:solidFill>
              <a:latin typeface="Calibri" panose="020F0502020204030204"/>
            </a:endParaRPr>
          </a:p>
          <a:p>
            <a:pPr marL="247015" indent="-247015" algn="l">
              <a:spcAft>
                <a:spcPts val="1400"/>
              </a:spcAft>
              <a:buChar char="•"/>
            </a:pPr>
            <a:r>
              <a:rPr sz="1450" b="0" i="0">
                <a:solidFill>
                  <a:srgbClr val="0F1B2D"/>
                </a:solidFill>
                <a:latin typeface="Calibri" panose="020F0502020204030204"/>
              </a:rPr>
              <a:t>Approve or reject in one click.</a:t>
            </a:r>
            <a:endParaRPr sz="1450" b="0" i="0">
              <a:solidFill>
                <a:srgbClr val="0F1B2D"/>
              </a:solidFill>
              <a:latin typeface="Calibri" panose="020F0502020204030204"/>
            </a:endParaRPr>
          </a:p>
          <a:p>
            <a:pPr marL="247015" indent="-247015" algn="l">
              <a:spcAft>
                <a:spcPts val="1400"/>
              </a:spcAft>
              <a:buChar char="•"/>
            </a:pPr>
            <a:r>
              <a:rPr sz="1450" b="0" i="0">
                <a:solidFill>
                  <a:srgbClr val="0F1B2D"/>
                </a:solidFill>
                <a:latin typeface="Calibri" panose="020F0502020204030204"/>
              </a:rPr>
              <a:t>The same page works at 390 px wide with no sideways scroll, checked in a real browser.</a:t>
            </a:r>
            <a:endParaRPr sz="1450" b="0" i="0">
              <a:solidFill>
                <a:srgbClr val="0F1B2D"/>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The central idea: the model talks, code decides</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Five questions, and who answers each one</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7</a:t>
            </a:r>
            <a:endParaRPr sz="1050" b="0" i="0">
              <a:solidFill>
                <a:srgbClr val="556278"/>
              </a:solidFill>
              <a:latin typeface="Calibri" panose="020F0502020204030204"/>
            </a:endParaRPr>
          </a:p>
        </p:txBody>
      </p:sp>
      <p:sp>
        <p:nvSpPr>
          <p:cNvPr id="7" name="Rounded Rectangle 6"/>
          <p:cNvSpPr/>
          <p:nvPr/>
        </p:nvSpPr>
        <p:spPr>
          <a:xfrm>
            <a:off x="548640" y="1691640"/>
            <a:ext cx="4206240" cy="804672"/>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1" i="0">
                <a:solidFill>
                  <a:srgbClr val="FFFFFF"/>
                </a:solidFill>
                <a:latin typeface="Calibri" panose="020F0502020204030204"/>
              </a:rPr>
              <a:t>Which employee is asking</a:t>
            </a:r>
            <a:endParaRPr sz="1700" b="1" i="0">
              <a:solidFill>
                <a:srgbClr val="FFFFFF"/>
              </a:solidFill>
              <a:latin typeface="Calibri" panose="020F0502020204030204"/>
            </a:endParaRPr>
          </a:p>
        </p:txBody>
      </p:sp>
      <p:cxnSp>
        <p:nvCxnSpPr>
          <p:cNvPr id="8" name="Connector 7"/>
          <p:cNvCxnSpPr/>
          <p:nvPr/>
        </p:nvCxnSpPr>
        <p:spPr>
          <a:xfrm>
            <a:off x="4800600" y="2093976"/>
            <a:ext cx="365760" cy="0"/>
          </a:xfrm>
          <a:prstGeom prst="line">
            <a:avLst/>
          </a:prstGeom>
          <a:ln w="317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2080" y="1691640"/>
            <a:ext cx="6446520" cy="804672"/>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0" i="0">
                <a:solidFill>
                  <a:srgbClr val="0F1B2D"/>
                </a:solidFill>
                <a:latin typeface="Calibri" panose="020F0502020204030204"/>
              </a:rPr>
              <a:t>The signed login token. Never the model.</a:t>
            </a:r>
            <a:endParaRPr sz="1700" b="0" i="0">
              <a:solidFill>
                <a:srgbClr val="0F1B2D"/>
              </a:solidFill>
              <a:latin typeface="Calibri" panose="020F0502020204030204"/>
            </a:endParaRPr>
          </a:p>
        </p:txBody>
      </p:sp>
      <p:sp>
        <p:nvSpPr>
          <p:cNvPr id="10" name="Rounded Rectangle 9"/>
          <p:cNvSpPr/>
          <p:nvPr/>
        </p:nvSpPr>
        <p:spPr>
          <a:xfrm>
            <a:off x="548640" y="2606040"/>
            <a:ext cx="4206240" cy="804672"/>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1" i="0">
                <a:solidFill>
                  <a:srgbClr val="FFFFFF"/>
                </a:solidFill>
                <a:latin typeface="Calibri" panose="020F0502020204030204"/>
              </a:rPr>
              <a:t>Every number, date and eligibility result</a:t>
            </a:r>
            <a:endParaRPr sz="1700" b="1" i="0">
              <a:solidFill>
                <a:srgbClr val="FFFFFF"/>
              </a:solidFill>
              <a:latin typeface="Calibri" panose="020F0502020204030204"/>
            </a:endParaRPr>
          </a:p>
        </p:txBody>
      </p:sp>
      <p:cxnSp>
        <p:nvCxnSpPr>
          <p:cNvPr id="11" name="Connector 10"/>
          <p:cNvCxnSpPr/>
          <p:nvPr/>
        </p:nvCxnSpPr>
        <p:spPr>
          <a:xfrm>
            <a:off x="4800600" y="3008376"/>
            <a:ext cx="365760" cy="0"/>
          </a:xfrm>
          <a:prstGeom prst="line">
            <a:avLst/>
          </a:prstGeom>
          <a:ln w="317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12080" y="2606040"/>
            <a:ext cx="6446520" cy="804672"/>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0" i="0">
                <a:solidFill>
                  <a:srgbClr val="0F1B2D"/>
                </a:solidFill>
                <a:latin typeface="Calibri" panose="020F0502020204030204"/>
              </a:rPr>
              <a:t>Tested Python rules, reached through tools.</a:t>
            </a:r>
            <a:endParaRPr sz="1700" b="0" i="0">
              <a:solidFill>
                <a:srgbClr val="0F1B2D"/>
              </a:solidFill>
              <a:latin typeface="Calibri" panose="020F0502020204030204"/>
            </a:endParaRPr>
          </a:p>
        </p:txBody>
      </p:sp>
      <p:sp>
        <p:nvSpPr>
          <p:cNvPr id="13" name="Rounded Rectangle 12"/>
          <p:cNvSpPr/>
          <p:nvPr/>
        </p:nvSpPr>
        <p:spPr>
          <a:xfrm>
            <a:off x="548640" y="3520440"/>
            <a:ext cx="4206240" cy="804672"/>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1" i="0">
                <a:solidFill>
                  <a:srgbClr val="FFFFFF"/>
                </a:solidFill>
                <a:latin typeface="Calibri" panose="020F0502020204030204"/>
              </a:rPr>
              <a:t>Policy wording</a:t>
            </a:r>
            <a:endParaRPr sz="1700" b="1" i="0">
              <a:solidFill>
                <a:srgbClr val="FFFFFF"/>
              </a:solidFill>
              <a:latin typeface="Calibri" panose="020F0502020204030204"/>
            </a:endParaRPr>
          </a:p>
        </p:txBody>
      </p:sp>
      <p:cxnSp>
        <p:nvCxnSpPr>
          <p:cNvPr id="14" name="Connector 13"/>
          <p:cNvCxnSpPr/>
          <p:nvPr/>
        </p:nvCxnSpPr>
        <p:spPr>
          <a:xfrm>
            <a:off x="4800600" y="3922776"/>
            <a:ext cx="365760" cy="0"/>
          </a:xfrm>
          <a:prstGeom prst="line">
            <a:avLst/>
          </a:prstGeom>
          <a:ln w="317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12080" y="3520440"/>
            <a:ext cx="6446520" cy="804672"/>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0" i="0">
                <a:solidFill>
                  <a:srgbClr val="0F1B2D"/>
                </a:solidFill>
                <a:latin typeface="Calibri" panose="020F0502020204030204"/>
              </a:rPr>
              <a:t>Retrieved policy sections, cited by clause id.</a:t>
            </a:r>
            <a:endParaRPr sz="1700" b="0" i="0">
              <a:solidFill>
                <a:srgbClr val="0F1B2D"/>
              </a:solidFill>
              <a:latin typeface="Calibri" panose="020F0502020204030204"/>
            </a:endParaRPr>
          </a:p>
        </p:txBody>
      </p:sp>
      <p:sp>
        <p:nvSpPr>
          <p:cNvPr id="16" name="Rounded Rectangle 15"/>
          <p:cNvSpPr/>
          <p:nvPr/>
        </p:nvSpPr>
        <p:spPr>
          <a:xfrm>
            <a:off x="548640" y="4434840"/>
            <a:ext cx="4206240" cy="804672"/>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1" i="0">
                <a:solidFill>
                  <a:srgbClr val="FFFFFF"/>
                </a:solidFill>
                <a:latin typeface="Calibri" panose="020F0502020204030204"/>
              </a:rPr>
              <a:t>Whether an answer may be shown</a:t>
            </a:r>
            <a:endParaRPr sz="1700" b="1" i="0">
              <a:solidFill>
                <a:srgbClr val="FFFFFF"/>
              </a:solidFill>
              <a:latin typeface="Calibri" panose="020F0502020204030204"/>
            </a:endParaRPr>
          </a:p>
        </p:txBody>
      </p:sp>
      <p:cxnSp>
        <p:nvCxnSpPr>
          <p:cNvPr id="17" name="Connector 16"/>
          <p:cNvCxnSpPr/>
          <p:nvPr/>
        </p:nvCxnSpPr>
        <p:spPr>
          <a:xfrm>
            <a:off x="4800600" y="4837176"/>
            <a:ext cx="365760" cy="0"/>
          </a:xfrm>
          <a:prstGeom prst="line">
            <a:avLst/>
          </a:prstGeom>
          <a:ln w="317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12080" y="4434840"/>
            <a:ext cx="6446520" cy="804672"/>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0" i="0">
                <a:solidFill>
                  <a:srgbClr val="0F1B2D"/>
                </a:solidFill>
                <a:latin typeface="Calibri" panose="020F0502020204030204"/>
              </a:rPr>
              <a:t>A deterministic verifier, after every draft.</a:t>
            </a:r>
            <a:endParaRPr sz="1700" b="0" i="0">
              <a:solidFill>
                <a:srgbClr val="0F1B2D"/>
              </a:solidFill>
              <a:latin typeface="Calibri" panose="020F0502020204030204"/>
            </a:endParaRPr>
          </a:p>
        </p:txBody>
      </p:sp>
      <p:sp>
        <p:nvSpPr>
          <p:cNvPr id="19" name="Rounded Rectangle 18"/>
          <p:cNvSpPr/>
          <p:nvPr/>
        </p:nvSpPr>
        <p:spPr>
          <a:xfrm>
            <a:off x="548640" y="5349240"/>
            <a:ext cx="4206240" cy="804672"/>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1" i="0">
                <a:solidFill>
                  <a:srgbClr val="FFFFFF"/>
                </a:solidFill>
                <a:latin typeface="Calibri" panose="020F0502020204030204"/>
              </a:rPr>
              <a:t>Whether leave is submitted</a:t>
            </a:r>
            <a:endParaRPr sz="1700" b="1" i="0">
              <a:solidFill>
                <a:srgbClr val="FFFFFF"/>
              </a:solidFill>
              <a:latin typeface="Calibri" panose="020F0502020204030204"/>
            </a:endParaRPr>
          </a:p>
        </p:txBody>
      </p:sp>
      <p:cxnSp>
        <p:nvCxnSpPr>
          <p:cNvPr id="20" name="Connector 19"/>
          <p:cNvCxnSpPr/>
          <p:nvPr/>
        </p:nvCxnSpPr>
        <p:spPr>
          <a:xfrm>
            <a:off x="4800600" y="5751576"/>
            <a:ext cx="365760" cy="0"/>
          </a:xfrm>
          <a:prstGeom prst="line">
            <a:avLst/>
          </a:prstGeom>
          <a:ln w="317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212080" y="5349240"/>
            <a:ext cx="6446520" cy="804672"/>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700" b="0" i="0">
                <a:solidFill>
                  <a:srgbClr val="0F1B2D"/>
                </a:solidFill>
                <a:latin typeface="Calibri" panose="020F0502020204030204"/>
              </a:rPr>
              <a:t>The employee, through an endpoint the model cannot call.</a:t>
            </a:r>
            <a:endParaRPr sz="1700" b="0" i="0">
              <a:solidFill>
                <a:srgbClr val="0F1B2D"/>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Architecture at a glance</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Custom web app  ·  FastAPI  ·  LangGraph  ·  Deep Agents  ·  Claude  ·  one SQLite file</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8</a:t>
            </a:r>
            <a:endParaRPr sz="1050" b="0" i="0">
              <a:solidFill>
                <a:srgbClr val="556278"/>
              </a:solidFill>
              <a:latin typeface="Calibri" panose="020F0502020204030204"/>
            </a:endParaRPr>
          </a:p>
        </p:txBody>
      </p:sp>
      <p:sp>
        <p:nvSpPr>
          <p:cNvPr id="7" name="Rounded Rectangle 6"/>
          <p:cNvSpPr/>
          <p:nvPr/>
        </p:nvSpPr>
        <p:spPr>
          <a:xfrm>
            <a:off x="548640" y="3337560"/>
            <a:ext cx="1783080" cy="86868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Web UI</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employee · manager · HR</a:t>
            </a:r>
            <a:endParaRPr sz="1150" b="0" i="0">
              <a:solidFill>
                <a:srgbClr val="556278"/>
              </a:solidFill>
              <a:latin typeface="Calibri" panose="020F0502020204030204"/>
            </a:endParaRPr>
          </a:p>
        </p:txBody>
      </p:sp>
      <p:sp>
        <p:nvSpPr>
          <p:cNvPr id="8" name="Rounded Rectangle 7"/>
          <p:cNvSpPr/>
          <p:nvPr/>
        </p:nvSpPr>
        <p:spPr>
          <a:xfrm>
            <a:off x="2788920" y="3337560"/>
            <a:ext cx="1920240" cy="86868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FastAPI gateway</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JWT · rate limit · SSE</a:t>
            </a:r>
            <a:endParaRPr sz="1150" b="0" i="0">
              <a:solidFill>
                <a:srgbClr val="556278"/>
              </a:solidFill>
              <a:latin typeface="Calibri" panose="020F0502020204030204"/>
            </a:endParaRPr>
          </a:p>
        </p:txBody>
      </p:sp>
      <p:sp>
        <p:nvSpPr>
          <p:cNvPr id="9" name="Rounded Rectangle 8"/>
          <p:cNvSpPr/>
          <p:nvPr/>
        </p:nvSpPr>
        <p:spPr>
          <a:xfrm>
            <a:off x="5120640" y="3017520"/>
            <a:ext cx="2103120" cy="150876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700" b="1" i="0">
                <a:solidFill>
                  <a:srgbClr val="FFFFFF"/>
                </a:solidFill>
                <a:latin typeface="Calibri" panose="020F0502020204030204"/>
              </a:rPr>
              <a:t>LangGraph agent</a:t>
            </a:r>
            <a:endParaRPr sz="1700" b="1" i="0">
              <a:solidFill>
                <a:srgbClr val="FFFFFF"/>
              </a:solidFill>
              <a:latin typeface="Calibri" panose="020F0502020204030204"/>
            </a:endParaRPr>
          </a:p>
          <a:p>
            <a:pPr algn="ctr">
              <a:spcAft>
                <a:spcPts val="0"/>
              </a:spcAft>
            </a:pPr>
            <a:r>
              <a:rPr sz="1150" b="0" i="0">
                <a:solidFill>
                  <a:srgbClr val="C4D2EA"/>
                </a:solidFill>
                <a:latin typeface="Calibri" panose="020F0502020204030204"/>
              </a:rPr>
              <a:t>router · tool loop</a:t>
            </a:r>
            <a:endParaRPr sz="1150" b="0" i="0">
              <a:solidFill>
                <a:srgbClr val="C4D2EA"/>
              </a:solidFill>
              <a:latin typeface="Calibri" panose="020F0502020204030204"/>
            </a:endParaRPr>
          </a:p>
          <a:p>
            <a:pPr algn="ctr">
              <a:spcAft>
                <a:spcPts val="0"/>
              </a:spcAft>
            </a:pPr>
            <a:r>
              <a:rPr sz="1150" b="0" i="0">
                <a:solidFill>
                  <a:srgbClr val="C4D2EA"/>
                </a:solidFill>
                <a:latin typeface="Calibri" panose="020F0502020204030204"/>
              </a:rPr>
              <a:t>verifier</a:t>
            </a:r>
            <a:endParaRPr sz="1150" b="0" i="0">
              <a:solidFill>
                <a:srgbClr val="C4D2EA"/>
              </a:solidFill>
              <a:latin typeface="Calibri" panose="020F0502020204030204"/>
            </a:endParaRPr>
          </a:p>
        </p:txBody>
      </p:sp>
      <p:sp>
        <p:nvSpPr>
          <p:cNvPr id="10" name="Rounded Rectangle 9"/>
          <p:cNvSpPr/>
          <p:nvPr/>
        </p:nvSpPr>
        <p:spPr>
          <a:xfrm>
            <a:off x="5120640" y="1645920"/>
            <a:ext cx="2103120" cy="86868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Claude API</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Sonnet answers · Haiku routes</a:t>
            </a:r>
            <a:endParaRPr sz="1150" b="0" i="0">
              <a:solidFill>
                <a:srgbClr val="556278"/>
              </a:solidFill>
              <a:latin typeface="Calibri" panose="020F0502020204030204"/>
            </a:endParaRPr>
          </a:p>
        </p:txBody>
      </p:sp>
      <p:sp>
        <p:nvSpPr>
          <p:cNvPr id="11" name="Rounded Rectangle 10"/>
          <p:cNvSpPr/>
          <p:nvPr/>
        </p:nvSpPr>
        <p:spPr>
          <a:xfrm>
            <a:off x="7909560" y="1645920"/>
            <a:ext cx="2011680" cy="868680"/>
          </a:xfrm>
          <a:prstGeom prst="roundRect">
            <a:avLst>
              <a:gd name="adj" fmla="val 10000"/>
            </a:avLst>
          </a:prstGeom>
          <a:solidFill>
            <a:srgbClr val="EDE7FD"/>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Deep Agents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planning path · read-only</a:t>
            </a:r>
            <a:endParaRPr sz="1150" b="0" i="0">
              <a:solidFill>
                <a:srgbClr val="556278"/>
              </a:solidFill>
              <a:latin typeface="Calibri" panose="020F0502020204030204"/>
            </a:endParaRPr>
          </a:p>
        </p:txBody>
      </p:sp>
      <p:sp>
        <p:nvSpPr>
          <p:cNvPr id="12" name="Rounded Rectangle 11"/>
          <p:cNvSpPr/>
          <p:nvPr/>
        </p:nvSpPr>
        <p:spPr>
          <a:xfrm>
            <a:off x="7909560" y="3337560"/>
            <a:ext cx="2011680" cy="86868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Tools + rules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10 scoped tools · R1-R10</a:t>
            </a:r>
            <a:endParaRPr sz="1150" b="0" i="0">
              <a:solidFill>
                <a:srgbClr val="556278"/>
              </a:solidFill>
              <a:latin typeface="Calibri" panose="020F0502020204030204"/>
            </a:endParaRPr>
          </a:p>
        </p:txBody>
      </p:sp>
      <p:sp>
        <p:nvSpPr>
          <p:cNvPr id="13" name="Rounded Rectangle 12"/>
          <p:cNvSpPr/>
          <p:nvPr/>
        </p:nvSpPr>
        <p:spPr>
          <a:xfrm>
            <a:off x="7909560" y="4983480"/>
            <a:ext cx="2011680" cy="86868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Policy search</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FTS5 + vectors · cited</a:t>
            </a:r>
            <a:endParaRPr sz="1150" b="0" i="0">
              <a:solidFill>
                <a:srgbClr val="556278"/>
              </a:solidFill>
              <a:latin typeface="Calibri" panose="020F0502020204030204"/>
            </a:endParaRPr>
          </a:p>
        </p:txBody>
      </p:sp>
      <p:sp>
        <p:nvSpPr>
          <p:cNvPr id="14" name="Rounded Rectangle 13"/>
          <p:cNvSpPr/>
          <p:nvPr/>
        </p:nvSpPr>
        <p:spPr>
          <a:xfrm>
            <a:off x="10287000" y="3017520"/>
            <a:ext cx="1371600" cy="1508760"/>
          </a:xfrm>
          <a:prstGeom prst="roundRect">
            <a:avLst>
              <a:gd name="adj" fmla="val 10000"/>
            </a:avLst>
          </a:prstGeom>
          <a:solidFill>
            <a:srgbClr val="F2F5FA"/>
          </a:solidFill>
          <a:ln w="15875">
            <a:solidFill>
              <a:srgbClr val="7A83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SQLite</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one file</a:t>
            </a:r>
            <a:endParaRPr sz="1150" b="0" i="0">
              <a:solidFill>
                <a:srgbClr val="556278"/>
              </a:solidFill>
              <a:latin typeface="Calibri" panose="020F0502020204030204"/>
            </a:endParaRPr>
          </a:p>
        </p:txBody>
      </p:sp>
      <p:cxnSp>
        <p:nvCxnSpPr>
          <p:cNvPr id="15" name="Connector 14"/>
          <p:cNvCxnSpPr/>
          <p:nvPr/>
        </p:nvCxnSpPr>
        <p:spPr>
          <a:xfrm>
            <a:off x="2331720" y="3767328"/>
            <a:ext cx="4572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09160" y="3767328"/>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172200" y="2514600"/>
            <a:ext cx="0" cy="50292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223760" y="3291840"/>
            <a:ext cx="338328" cy="0"/>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562088" y="2075688"/>
            <a:ext cx="0" cy="1216152"/>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562088" y="2075688"/>
            <a:ext cx="347472"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223760" y="3767328"/>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223760" y="4251960"/>
            <a:ext cx="338328" cy="0"/>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62088" y="4251960"/>
            <a:ext cx="0" cy="1161288"/>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62088" y="5413248"/>
            <a:ext cx="347472"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915400" y="2514600"/>
            <a:ext cx="0" cy="822960"/>
          </a:xfrm>
          <a:prstGeom prst="line">
            <a:avLst/>
          </a:prstGeom>
          <a:ln w="25400">
            <a:solidFill>
              <a:srgbClr val="7C3AE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06840" y="2724912"/>
            <a:ext cx="1463040" cy="320040"/>
          </a:xfrm>
          <a:prstGeom prst="rect">
            <a:avLst/>
          </a:prstGeom>
          <a:noFill/>
        </p:spPr>
        <p:txBody>
          <a:bodyPr wrap="square" lIns="45720" tIns="27432" rIns="45720" bIns="27432" anchor="t">
            <a:spAutoFit/>
          </a:bodyPr>
          <a:lstStyle/>
          <a:p>
            <a:pPr algn="l">
              <a:spcAft>
                <a:spcPts val="600"/>
              </a:spcAft>
            </a:pPr>
            <a:r>
              <a:rPr sz="1100" b="0" i="0">
                <a:solidFill>
                  <a:srgbClr val="7C3AED"/>
                </a:solidFill>
                <a:latin typeface="Calibri" panose="020F0502020204030204"/>
              </a:rPr>
              <a:t>read-only</a:t>
            </a:r>
            <a:endParaRPr sz="1100" b="0" i="0">
              <a:solidFill>
                <a:srgbClr val="7C3AED"/>
              </a:solidFill>
              <a:latin typeface="Calibri" panose="020F0502020204030204"/>
            </a:endParaRPr>
          </a:p>
        </p:txBody>
      </p:sp>
      <p:cxnSp>
        <p:nvCxnSpPr>
          <p:cNvPr id="27" name="Connector 26"/>
          <p:cNvCxnSpPr/>
          <p:nvPr/>
        </p:nvCxnSpPr>
        <p:spPr>
          <a:xfrm>
            <a:off x="9921240" y="3767328"/>
            <a:ext cx="36576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21240" y="5413248"/>
            <a:ext cx="1051560" cy="0"/>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972800" y="4526280"/>
            <a:ext cx="0" cy="886968"/>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4892040"/>
            <a:ext cx="6400800" cy="1280160"/>
          </a:xfrm>
          <a:prstGeom prst="rect">
            <a:avLst/>
          </a:prstGeom>
          <a:noFill/>
        </p:spPr>
        <p:txBody>
          <a:bodyPr wrap="square" lIns="45720" tIns="27432" rIns="45720" bIns="27432" anchor="t">
            <a:spAutoFit/>
          </a:bodyPr>
          <a:lstStyle/>
          <a:p>
            <a:pPr algn="l">
              <a:spcAft>
                <a:spcPts val="600"/>
              </a:spcAft>
            </a:pPr>
            <a:r>
              <a:rPr sz="1500" b="1" i="0">
                <a:solidFill>
                  <a:srgbClr val="0A1730"/>
                </a:solidFill>
                <a:latin typeface="Calibri" panose="020F0502020204030204"/>
              </a:rPr>
              <a:t>One SQLite file</a:t>
            </a:r>
            <a:r>
              <a:rPr sz="1500" b="0" i="0">
                <a:solidFill>
                  <a:srgbClr val="0F1B2D"/>
                </a:solidFill>
                <a:latin typeface="Calibri" panose="020F0502020204030204"/>
              </a:rPr>
              <a:t> holds HR data, leave drafts, the policy index (FTS5 + sqlite-vec), the audit log and the chat history.</a:t>
            </a:r>
            <a:endParaRPr sz="1500" b="0" i="0">
              <a:solidFill>
                <a:srgbClr val="0F1B2D"/>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Two routes: everyday questions and complex plans</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Plain code picks the route. The model never chooses its own safety checks.</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9</a:t>
            </a:r>
            <a:endParaRPr sz="1050" b="0" i="0">
              <a:solidFill>
                <a:srgbClr val="556278"/>
              </a:solidFill>
              <a:latin typeface="Calibri" panose="020F0502020204030204"/>
            </a:endParaRPr>
          </a:p>
        </p:txBody>
      </p:sp>
      <p:sp>
        <p:nvSpPr>
          <p:cNvPr id="7" name="Rounded Rectangle 6"/>
          <p:cNvSpPr/>
          <p:nvPr/>
        </p:nvSpPr>
        <p:spPr>
          <a:xfrm>
            <a:off x="457200" y="3246120"/>
            <a:ext cx="1325880" cy="86868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Message</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from /chat</a:t>
            </a:r>
            <a:endParaRPr sz="1150" b="0" i="0">
              <a:solidFill>
                <a:srgbClr val="556278"/>
              </a:solidFill>
              <a:latin typeface="Calibri" panose="020F0502020204030204"/>
            </a:endParaRPr>
          </a:p>
        </p:txBody>
      </p:sp>
      <p:sp>
        <p:nvSpPr>
          <p:cNvPr id="8" name="Rounded Rectangle 7"/>
          <p:cNvSpPr/>
          <p:nvPr/>
        </p:nvSpPr>
        <p:spPr>
          <a:xfrm>
            <a:off x="2011680" y="3246120"/>
            <a:ext cx="1463040" cy="86868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Guardrail</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length · injection</a:t>
            </a:r>
            <a:endParaRPr sz="1150" b="0" i="0">
              <a:solidFill>
                <a:srgbClr val="556278"/>
              </a:solidFill>
              <a:latin typeface="Calibri" panose="020F0502020204030204"/>
            </a:endParaRPr>
          </a:p>
        </p:txBody>
      </p:sp>
      <p:sp>
        <p:nvSpPr>
          <p:cNvPr id="9" name="Rounded Rectangle 8"/>
          <p:cNvSpPr/>
          <p:nvPr/>
        </p:nvSpPr>
        <p:spPr>
          <a:xfrm>
            <a:off x="3703320" y="3246120"/>
            <a:ext cx="1554480" cy="868680"/>
          </a:xfrm>
          <a:prstGeom prst="roundRect">
            <a:avLst>
              <a:gd name="adj" fmla="val 10000"/>
            </a:avLst>
          </a:prstGeom>
          <a:solidFill>
            <a:srgbClr val="E8F0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Router</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Haiku · intent</a:t>
            </a:r>
            <a:endParaRPr sz="1150" b="0" i="0">
              <a:solidFill>
                <a:srgbClr val="556278"/>
              </a:solidFill>
              <a:latin typeface="Calibri" panose="020F0502020204030204"/>
            </a:endParaRPr>
          </a:p>
        </p:txBody>
      </p:sp>
      <p:cxnSp>
        <p:nvCxnSpPr>
          <p:cNvPr id="10" name="Connector 9"/>
          <p:cNvCxnSpPr/>
          <p:nvPr/>
        </p:nvCxnSpPr>
        <p:spPr>
          <a:xfrm>
            <a:off x="1783080" y="3675887"/>
            <a:ext cx="2286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474720" y="3675887"/>
            <a:ext cx="2286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57800" y="3675887"/>
            <a:ext cx="411480" cy="0"/>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669280" y="2057400"/>
            <a:ext cx="0" cy="2926080"/>
          </a:xfrm>
          <a:prstGeom prst="line">
            <a:avLst/>
          </a:prstGeom>
          <a:ln w="25400">
            <a:solidFill>
              <a:srgbClr val="5562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69280" y="2057400"/>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669280" y="3675887"/>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69280" y="4983480"/>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66160" y="4206240"/>
            <a:ext cx="2103120" cy="320040"/>
          </a:xfrm>
          <a:prstGeom prst="rect">
            <a:avLst/>
          </a:prstGeom>
          <a:noFill/>
        </p:spPr>
        <p:txBody>
          <a:bodyPr wrap="square" lIns="45720" tIns="27432" rIns="45720" bIns="27432" anchor="t">
            <a:spAutoFit/>
          </a:bodyPr>
          <a:lstStyle/>
          <a:p>
            <a:pPr algn="ctr">
              <a:spcAft>
                <a:spcPts val="600"/>
              </a:spcAft>
            </a:pPr>
            <a:r>
              <a:rPr sz="1200" b="0" i="0">
                <a:solidFill>
                  <a:srgbClr val="2563EB"/>
                </a:solidFill>
                <a:latin typeface="Calibri" panose="020F0502020204030204"/>
              </a:rPr>
              <a:t>Code, not the model, picks the route</a:t>
            </a:r>
            <a:endParaRPr sz="1200" b="0" i="0">
              <a:solidFill>
                <a:srgbClr val="2563EB"/>
              </a:solidFill>
              <a:latin typeface="Calibri" panose="020F0502020204030204"/>
            </a:endParaRPr>
          </a:p>
        </p:txBody>
      </p:sp>
      <p:sp>
        <p:nvSpPr>
          <p:cNvPr id="18" name="Rounded Rectangle 17"/>
          <p:cNvSpPr/>
          <p:nvPr/>
        </p:nvSpPr>
        <p:spPr>
          <a:xfrm>
            <a:off x="6080760" y="1645920"/>
            <a:ext cx="2834640" cy="868680"/>
          </a:xfrm>
          <a:prstGeom prst="roundRect">
            <a:avLst>
              <a:gd name="adj" fmla="val 10000"/>
            </a:avLst>
          </a:prstGeom>
          <a:solidFill>
            <a:srgbClr val="E8F0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Everyday: agent + tools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Sonnet picks tools · max 5 calls</a:t>
            </a:r>
            <a:endParaRPr sz="1150" b="0" i="0">
              <a:solidFill>
                <a:srgbClr val="556278"/>
              </a:solidFill>
              <a:latin typeface="Calibri" panose="020F0502020204030204"/>
            </a:endParaRPr>
          </a:p>
        </p:txBody>
      </p:sp>
      <p:sp>
        <p:nvSpPr>
          <p:cNvPr id="19" name="Rounded Rectangle 18"/>
          <p:cNvSpPr/>
          <p:nvPr/>
        </p:nvSpPr>
        <p:spPr>
          <a:xfrm>
            <a:off x="6080760" y="3200400"/>
            <a:ext cx="2834640" cy="96012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Small routes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clarify · decline · small talk</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sensitive (fixed tools)</a:t>
            </a:r>
            <a:endParaRPr sz="1150" b="0" i="0">
              <a:solidFill>
                <a:srgbClr val="556278"/>
              </a:solidFill>
              <a:latin typeface="Calibri" panose="020F0502020204030204"/>
            </a:endParaRPr>
          </a:p>
        </p:txBody>
      </p:sp>
      <p:sp>
        <p:nvSpPr>
          <p:cNvPr id="20" name="Rounded Rectangle 19"/>
          <p:cNvSpPr/>
          <p:nvPr/>
        </p:nvSpPr>
        <p:spPr>
          <a:xfrm>
            <a:off x="6080760" y="4572000"/>
            <a:ext cx="2834640" cy="868680"/>
          </a:xfrm>
          <a:prstGeom prst="roundRect">
            <a:avLst>
              <a:gd name="adj" fmla="val 10000"/>
            </a:avLst>
          </a:prstGeom>
          <a:solidFill>
            <a:srgbClr val="EDE7FD"/>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Complex: Deep Agents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planner + 2 sub-agents · read-only</a:t>
            </a:r>
            <a:endParaRPr sz="1150" b="0" i="0">
              <a:solidFill>
                <a:srgbClr val="556278"/>
              </a:solidFill>
              <a:latin typeface="Calibri" panose="020F0502020204030204"/>
            </a:endParaRPr>
          </a:p>
        </p:txBody>
      </p:sp>
      <p:cxnSp>
        <p:nvCxnSpPr>
          <p:cNvPr id="21" name="Connector 20"/>
          <p:cNvCxnSpPr/>
          <p:nvPr/>
        </p:nvCxnSpPr>
        <p:spPr>
          <a:xfrm>
            <a:off x="8915400" y="2075688"/>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915400" y="3675887"/>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915400" y="5001768"/>
            <a:ext cx="41148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326880" y="1645920"/>
            <a:ext cx="1325880" cy="3794760"/>
          </a:xfrm>
          <a:prstGeom prst="roundRect">
            <a:avLst>
              <a:gd name="adj" fmla="val 10000"/>
            </a:avLst>
          </a:prstGeom>
          <a:solidFill>
            <a:srgbClr val="FFF4D6"/>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700" b="1" i="0">
                <a:solidFill>
                  <a:srgbClr val="0F1B2D"/>
                </a:solidFill>
                <a:latin typeface="Calibri" panose="020F0502020204030204"/>
              </a:rPr>
              <a:t>Verify</a:t>
            </a:r>
            <a:endParaRPr sz="17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numbers</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dates</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citations</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names</a:t>
            </a:r>
            <a:endParaRPr sz="1150" b="0" i="0">
              <a:solidFill>
                <a:srgbClr val="556278"/>
              </a:solidFill>
              <a:latin typeface="Calibri" panose="020F0502020204030204"/>
            </a:endParaRPr>
          </a:p>
        </p:txBody>
      </p:sp>
      <p:cxnSp>
        <p:nvCxnSpPr>
          <p:cNvPr id="25" name="Connector 24"/>
          <p:cNvCxnSpPr/>
          <p:nvPr/>
        </p:nvCxnSpPr>
        <p:spPr>
          <a:xfrm>
            <a:off x="10652760" y="3538728"/>
            <a:ext cx="2286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881360" y="3108960"/>
            <a:ext cx="868680" cy="868680"/>
          </a:xfrm>
          <a:prstGeom prst="roundRect">
            <a:avLst>
              <a:gd name="adj" fmla="val 10000"/>
            </a:avLst>
          </a:prstGeom>
          <a:solidFill>
            <a:srgbClr val="DFF5F1"/>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250" b="1" i="0">
                <a:solidFill>
                  <a:srgbClr val="0F1B2D"/>
                </a:solidFill>
                <a:latin typeface="Calibri" panose="020F0502020204030204"/>
              </a:rPr>
              <a:t>Answer</a:t>
            </a:r>
            <a:endParaRPr sz="1250" b="1" i="0">
              <a:solidFill>
                <a:srgbClr val="0F1B2D"/>
              </a:solidFill>
              <a:latin typeface="Calibri" panose="020F0502020204030204"/>
            </a:endParaRPr>
          </a:p>
        </p:txBody>
      </p:sp>
      <p:sp>
        <p:nvSpPr>
          <p:cNvPr id="27" name="TextBox 26"/>
          <p:cNvSpPr txBox="1"/>
          <p:nvPr/>
        </p:nvSpPr>
        <p:spPr>
          <a:xfrm>
            <a:off x="6080760" y="5486400"/>
            <a:ext cx="2926080" cy="640080"/>
          </a:xfrm>
          <a:prstGeom prst="rect">
            <a:avLst/>
          </a:prstGeom>
          <a:noFill/>
        </p:spPr>
        <p:txBody>
          <a:bodyPr wrap="square" lIns="45720" tIns="27432" rIns="45720" bIns="27432" anchor="t">
            <a:spAutoFit/>
          </a:bodyPr>
          <a:lstStyle/>
          <a:p>
            <a:pPr algn="l">
              <a:spcAft>
                <a:spcPts val="600"/>
              </a:spcAft>
            </a:pPr>
            <a:r>
              <a:rPr sz="1200" b="0" i="0">
                <a:solidFill>
                  <a:srgbClr val="556278"/>
                </a:solidFill>
                <a:latin typeface="Calibri" panose="020F0502020204030204"/>
              </a:rPr>
              <a:t>If planning fails, the everyday tool loop answers.</a:t>
            </a:r>
            <a:endParaRPr sz="1200" b="0" i="0">
              <a:solidFill>
                <a:srgbClr val="556278"/>
              </a:solidFill>
              <a:latin typeface="Calibri" panose="020F0502020204030204"/>
            </a:endParaRPr>
          </a:p>
        </p:txBody>
      </p:sp>
      <p:sp>
        <p:nvSpPr>
          <p:cNvPr id="28" name="TextBox 27"/>
          <p:cNvSpPr txBox="1"/>
          <p:nvPr/>
        </p:nvSpPr>
        <p:spPr>
          <a:xfrm>
            <a:off x="9052560" y="5486400"/>
            <a:ext cx="2743200" cy="731520"/>
          </a:xfrm>
          <a:prstGeom prst="rect">
            <a:avLst/>
          </a:prstGeom>
          <a:noFill/>
        </p:spPr>
        <p:txBody>
          <a:bodyPr wrap="square" lIns="45720" tIns="27432" rIns="45720" bIns="27432" anchor="t">
            <a:spAutoFit/>
          </a:bodyPr>
          <a:lstStyle/>
          <a:p>
            <a:pPr algn="l">
              <a:spcAft>
                <a:spcPts val="600"/>
              </a:spcAft>
            </a:pPr>
            <a:r>
              <a:rPr sz="1200" b="0" i="0">
                <a:solidFill>
                  <a:srgbClr val="556278"/>
                </a:solidFill>
                <a:latin typeface="Calibri" panose="020F0502020204030204"/>
              </a:rPr>
              <a:t>Failed draft: rewrite up to 2 times, then a plain fallback built from tool output.</a:t>
            </a:r>
            <a:endParaRPr sz="1200" b="0" i="0">
              <a:solidFill>
                <a:srgbClr val="556278"/>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Why LangGraph for the spine, Deep Agents for planning</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10</a:t>
            </a:r>
            <a:endParaRPr sz="1050" b="0" i="0">
              <a:solidFill>
                <a:srgbClr val="556278"/>
              </a:solidFill>
              <a:latin typeface="Calibri" panose="020F0502020204030204"/>
            </a:endParaRPr>
          </a:p>
        </p:txBody>
      </p:sp>
      <p:sp>
        <p:nvSpPr>
          <p:cNvPr id="6" name="Rounded Rectangle 5"/>
          <p:cNvSpPr/>
          <p:nvPr/>
        </p:nvSpPr>
        <p:spPr>
          <a:xfrm>
            <a:off x="548640" y="1645920"/>
            <a:ext cx="5486400" cy="3931920"/>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 name="Rectangle 6"/>
          <p:cNvSpPr/>
          <p:nvPr/>
        </p:nvSpPr>
        <p:spPr>
          <a:xfrm>
            <a:off x="548640" y="1645920"/>
            <a:ext cx="82296" cy="39319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 name="TextBox 7"/>
          <p:cNvSpPr txBox="1"/>
          <p:nvPr/>
        </p:nvSpPr>
        <p:spPr>
          <a:xfrm>
            <a:off x="777240" y="1783080"/>
            <a:ext cx="5120640" cy="457200"/>
          </a:xfrm>
          <a:prstGeom prst="rect">
            <a:avLst/>
          </a:prstGeom>
          <a:noFill/>
        </p:spPr>
        <p:txBody>
          <a:bodyPr wrap="square" lIns="45720" tIns="27432" rIns="45720" bIns="27432" anchor="t">
            <a:spAutoFit/>
          </a:bodyPr>
          <a:lstStyle/>
          <a:p>
            <a:pPr algn="l">
              <a:spcAft>
                <a:spcPts val="600"/>
              </a:spcAft>
            </a:pPr>
            <a:r>
              <a:rPr sz="1700" b="1" i="0">
                <a:solidFill>
                  <a:srgbClr val="2563EB"/>
                </a:solidFill>
                <a:latin typeface="Calibri" panose="020F0502020204030204"/>
              </a:rPr>
              <a:t>LangGraph: the fixed spine</a:t>
            </a:r>
            <a:endParaRPr sz="1700" b="1" i="0">
              <a:solidFill>
                <a:srgbClr val="2563EB"/>
              </a:solidFill>
              <a:latin typeface="Calibri" panose="020F0502020204030204"/>
            </a:endParaRPr>
          </a:p>
        </p:txBody>
      </p:sp>
      <p:sp>
        <p:nvSpPr>
          <p:cNvPr id="9" name="TextBox 8"/>
          <p:cNvSpPr txBox="1"/>
          <p:nvPr/>
        </p:nvSpPr>
        <p:spPr>
          <a:xfrm>
            <a:off x="777240" y="2286000"/>
            <a:ext cx="5074920" cy="3200400"/>
          </a:xfrm>
          <a:prstGeom prst="rect">
            <a:avLst/>
          </a:prstGeom>
          <a:noFill/>
        </p:spPr>
        <p:txBody>
          <a:bodyPr wrap="square" lIns="45720" tIns="27432" rIns="45720" bIns="27432" anchor="t">
            <a:spAutoFit/>
          </a:bodyPr>
          <a:lstStyle/>
          <a:p>
            <a:pPr marL="247015" indent="-247015" algn="l">
              <a:spcAft>
                <a:spcPts val="700"/>
              </a:spcAft>
              <a:buChar char="•"/>
            </a:pPr>
            <a:r>
              <a:rPr sz="1600" b="0" i="0">
                <a:solidFill>
                  <a:srgbClr val="0F1B2D"/>
                </a:solidFill>
                <a:latin typeface="Calibri" panose="020F0502020204030204"/>
              </a:rPr>
              <a:t>Safety steps are nodes the model cannot skip: guardrail, verify, rewrite, fallback</a:t>
            </a:r>
            <a:endParaRPr sz="1600" b="0" i="0">
              <a:solidFill>
                <a:srgbClr val="0F1B2D"/>
              </a:solidFill>
              <a:latin typeface="Calibri" panose="020F0502020204030204"/>
            </a:endParaRPr>
          </a:p>
          <a:p>
            <a:pPr marL="247015" indent="-247015" algn="l">
              <a:spcAft>
                <a:spcPts val="700"/>
              </a:spcAft>
              <a:buChar char="•"/>
            </a:pPr>
            <a:r>
              <a:rPr sz="1600" b="0" i="0">
                <a:solidFill>
                  <a:srgbClr val="0F1B2D"/>
                </a:solidFill>
                <a:latin typeface="Calibri" panose="020F0502020204030204"/>
              </a:rPr>
              <a:t>Routing is plain code, so behaviour is predictable and testable</a:t>
            </a:r>
            <a:endParaRPr sz="1600" b="0" i="0">
              <a:solidFill>
                <a:srgbClr val="0F1B2D"/>
              </a:solidFill>
              <a:latin typeface="Calibri" panose="020F0502020204030204"/>
            </a:endParaRPr>
          </a:p>
          <a:p>
            <a:pPr marL="247015" indent="-247015" algn="l">
              <a:spcAft>
                <a:spcPts val="700"/>
              </a:spcAft>
              <a:buChar char="•"/>
            </a:pPr>
            <a:r>
              <a:rPr sz="1600" b="0" i="0">
                <a:solidFill>
                  <a:srgbClr val="0F1B2D"/>
                </a:solidFill>
                <a:latin typeface="Calibri" panose="020F0502020204030204"/>
              </a:rPr>
              <a:t>Conversation memory and live progress streaming come built in</a:t>
            </a:r>
            <a:endParaRPr sz="1600" b="0" i="0">
              <a:solidFill>
                <a:srgbClr val="0F1B2D"/>
              </a:solidFill>
              <a:latin typeface="Calibri" panose="020F0502020204030204"/>
            </a:endParaRPr>
          </a:p>
          <a:p>
            <a:pPr marL="247015" indent="-247015" algn="l">
              <a:spcAft>
                <a:spcPts val="700"/>
              </a:spcAft>
              <a:buChar char="•"/>
            </a:pPr>
            <a:r>
              <a:rPr sz="1600" b="0" i="0">
                <a:solidFill>
                  <a:srgbClr val="0F1B2D"/>
                </a:solidFill>
                <a:latin typeface="Calibri" panose="020F0502020204030204"/>
              </a:rPr>
              <a:t>Tests run the whole graph with a scripted fake model</a:t>
            </a:r>
            <a:endParaRPr sz="1600" b="0" i="0">
              <a:solidFill>
                <a:srgbClr val="0F1B2D"/>
              </a:solidFill>
              <a:latin typeface="Calibri" panose="020F0502020204030204"/>
            </a:endParaRPr>
          </a:p>
        </p:txBody>
      </p:sp>
      <p:sp>
        <p:nvSpPr>
          <p:cNvPr id="10" name="Rounded Rectangle 9"/>
          <p:cNvSpPr/>
          <p:nvPr/>
        </p:nvSpPr>
        <p:spPr>
          <a:xfrm>
            <a:off x="6217920" y="1645920"/>
            <a:ext cx="5440680" cy="3931920"/>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 name="Rectangle 10"/>
          <p:cNvSpPr/>
          <p:nvPr/>
        </p:nvSpPr>
        <p:spPr>
          <a:xfrm>
            <a:off x="6217920" y="1645920"/>
            <a:ext cx="82296" cy="3931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2" name="TextBox 11"/>
          <p:cNvSpPr txBox="1"/>
          <p:nvPr/>
        </p:nvSpPr>
        <p:spPr>
          <a:xfrm>
            <a:off x="6446520" y="1783080"/>
            <a:ext cx="5074920" cy="457200"/>
          </a:xfrm>
          <a:prstGeom prst="rect">
            <a:avLst/>
          </a:prstGeom>
          <a:noFill/>
        </p:spPr>
        <p:txBody>
          <a:bodyPr wrap="square" lIns="45720" tIns="27432" rIns="45720" bIns="27432" anchor="t">
            <a:spAutoFit/>
          </a:bodyPr>
          <a:lstStyle/>
          <a:p>
            <a:pPr algn="l">
              <a:spcAft>
                <a:spcPts val="600"/>
              </a:spcAft>
            </a:pPr>
            <a:r>
              <a:rPr sz="1700" b="1" i="0">
                <a:solidFill>
                  <a:srgbClr val="7C3AED"/>
                </a:solidFill>
                <a:latin typeface="Calibri" panose="020F0502020204030204"/>
              </a:rPr>
              <a:t>Deep Agents: only for planning</a:t>
            </a:r>
            <a:endParaRPr sz="1700" b="1" i="0">
              <a:solidFill>
                <a:srgbClr val="7C3AED"/>
              </a:solidFill>
              <a:latin typeface="Calibri" panose="020F0502020204030204"/>
            </a:endParaRPr>
          </a:p>
        </p:txBody>
      </p:sp>
      <p:sp>
        <p:nvSpPr>
          <p:cNvPr id="13" name="TextBox 12"/>
          <p:cNvSpPr txBox="1"/>
          <p:nvPr/>
        </p:nvSpPr>
        <p:spPr>
          <a:xfrm>
            <a:off x="6446520" y="2286000"/>
            <a:ext cx="5029200" cy="3200400"/>
          </a:xfrm>
          <a:prstGeom prst="rect">
            <a:avLst/>
          </a:prstGeom>
          <a:noFill/>
        </p:spPr>
        <p:txBody>
          <a:bodyPr wrap="square" lIns="45720" tIns="27432" rIns="45720" bIns="27432" anchor="t">
            <a:spAutoFit/>
          </a:bodyPr>
          <a:lstStyle/>
          <a:p>
            <a:pPr marL="247015" indent="-247015" algn="l">
              <a:spcAft>
                <a:spcPts val="700"/>
              </a:spcAft>
              <a:buChar char="•"/>
            </a:pPr>
            <a:r>
              <a:rPr sz="1600" b="0" i="0">
                <a:solidFill>
                  <a:srgbClr val="0F1B2D"/>
                </a:solidFill>
                <a:latin typeface="Calibri" panose="020F0502020204030204"/>
              </a:rPr>
              <a:t>Planning and delegation suit multi-step questions</a:t>
            </a:r>
            <a:endParaRPr sz="1600" b="0" i="0">
              <a:solidFill>
                <a:srgbClr val="0F1B2D"/>
              </a:solidFill>
              <a:latin typeface="Calibri" panose="020F0502020204030204"/>
            </a:endParaRPr>
          </a:p>
          <a:p>
            <a:pPr marL="247015" indent="-247015" algn="l">
              <a:spcAft>
                <a:spcPts val="700"/>
              </a:spcAft>
              <a:buChar char="•"/>
            </a:pPr>
            <a:r>
              <a:rPr sz="1600" b="0" i="0">
                <a:solidFill>
                  <a:srgbClr val="0F1B2D"/>
                </a:solidFill>
                <a:latin typeface="Calibri" panose="020F0502020204030204"/>
              </a:rPr>
              <a:t>Sub-agents get clean contexts and a faster model</a:t>
            </a:r>
            <a:endParaRPr sz="1600" b="0" i="0">
              <a:solidFill>
                <a:srgbClr val="0F1B2D"/>
              </a:solidFill>
              <a:latin typeface="Calibri" panose="020F0502020204030204"/>
            </a:endParaRPr>
          </a:p>
          <a:p>
            <a:pPr marL="247015" indent="-247015" algn="l">
              <a:spcAft>
                <a:spcPts val="700"/>
              </a:spcAft>
              <a:buChar char="•"/>
            </a:pPr>
            <a:r>
              <a:rPr sz="1600" b="0" i="0">
                <a:solidFill>
                  <a:srgbClr val="0F1B2D"/>
                </a:solidFill>
                <a:latin typeface="Calibri" panose="020F0502020204030204"/>
              </a:rPr>
              <a:t>Fenced in: read-only tools, 12 tool calls, 3 sub-agent runs, 22 seconds</a:t>
            </a:r>
            <a:endParaRPr sz="1600" b="0" i="0">
              <a:solidFill>
                <a:srgbClr val="0F1B2D"/>
              </a:solidFill>
              <a:latin typeface="Calibri" panose="020F0502020204030204"/>
            </a:endParaRPr>
          </a:p>
          <a:p>
            <a:pPr marL="247015" indent="-247015" algn="l">
              <a:spcAft>
                <a:spcPts val="700"/>
              </a:spcAft>
              <a:buChar char="•"/>
            </a:pPr>
            <a:r>
              <a:rPr sz="1600" b="0" i="0">
                <a:solidFill>
                  <a:srgbClr val="0F1B2D"/>
                </a:solidFill>
                <a:latin typeface="Calibri" panose="020F0502020204030204"/>
              </a:rPr>
              <a:t>If it fails, the normal tool loop answers instead</a:t>
            </a:r>
            <a:endParaRPr sz="1600" b="0" i="0">
              <a:solidFill>
                <a:srgbClr val="0F1B2D"/>
              </a:solidFill>
              <a:latin typeface="Calibri" panose="020F0502020204030204"/>
            </a:endParaRPr>
          </a:p>
        </p:txBody>
      </p:sp>
      <p:sp>
        <p:nvSpPr>
          <p:cNvPr id="14" name="Rounded Rectangle 13"/>
          <p:cNvSpPr/>
          <p:nvPr/>
        </p:nvSpPr>
        <p:spPr>
          <a:xfrm>
            <a:off x="548640" y="5760720"/>
            <a:ext cx="11109960" cy="548640"/>
          </a:xfrm>
          <a:prstGeom prst="roundRect">
            <a:avLst>
              <a:gd name="adj" fmla="val 1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450" b="0" i="0">
                <a:solidFill>
                  <a:srgbClr val="0F1B2D"/>
                </a:solidFill>
                <a:latin typeface="Calibri" panose="020F0502020204030204"/>
              </a:rPr>
              <a:t>Honest cost: the planning path is slow (median 32 s). That is why simple questions never take it.</a:t>
            </a:r>
            <a:endParaRPr sz="1450" b="0" i="0">
              <a:solidFill>
                <a:srgbClr val="0F1B2D"/>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Policy answers: hybrid search, and a gate that says “not found”</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Everything lives in one SQLite file. Local embeddings, so no second API key.</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11</a:t>
            </a:r>
            <a:endParaRPr sz="1050" b="0" i="0">
              <a:solidFill>
                <a:srgbClr val="556278"/>
              </a:solidFill>
              <a:latin typeface="Calibri" panose="020F0502020204030204"/>
            </a:endParaRPr>
          </a:p>
        </p:txBody>
      </p:sp>
      <p:sp>
        <p:nvSpPr>
          <p:cNvPr id="7" name="TextBox 6"/>
          <p:cNvSpPr txBox="1"/>
          <p:nvPr/>
        </p:nvSpPr>
        <p:spPr>
          <a:xfrm>
            <a:off x="548640" y="1481328"/>
            <a:ext cx="3200400" cy="320040"/>
          </a:xfrm>
          <a:prstGeom prst="rect">
            <a:avLst/>
          </a:prstGeom>
          <a:noFill/>
        </p:spPr>
        <p:txBody>
          <a:bodyPr wrap="square" lIns="45720" tIns="27432" rIns="45720" bIns="27432" anchor="t">
            <a:spAutoFit/>
          </a:bodyPr>
          <a:lstStyle/>
          <a:p>
            <a:pPr algn="l">
              <a:spcAft>
                <a:spcPts val="600"/>
              </a:spcAft>
            </a:pPr>
            <a:r>
              <a:rPr sz="1150" b="1" i="0">
                <a:solidFill>
                  <a:srgbClr val="556278"/>
                </a:solidFill>
                <a:latin typeface="Calibri" panose="020F0502020204030204"/>
              </a:rPr>
              <a:t>INDEXING, ONCE AT STARTUP</a:t>
            </a:r>
            <a:endParaRPr sz="1150" b="1" i="0">
              <a:solidFill>
                <a:srgbClr val="556278"/>
              </a:solidFill>
              <a:latin typeface="Calibri" panose="020F0502020204030204"/>
            </a:endParaRPr>
          </a:p>
        </p:txBody>
      </p:sp>
      <p:sp>
        <p:nvSpPr>
          <p:cNvPr id="8" name="Rounded Rectangle 7"/>
          <p:cNvSpPr/>
          <p:nvPr/>
        </p:nvSpPr>
        <p:spPr>
          <a:xfrm>
            <a:off x="548640" y="1783080"/>
            <a:ext cx="2240280" cy="91440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Policy files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8 markdown documents</a:t>
            </a:r>
            <a:endParaRPr sz="1150" b="0" i="0">
              <a:solidFill>
                <a:srgbClr val="556278"/>
              </a:solidFill>
              <a:latin typeface="Calibri" panose="020F0502020204030204"/>
            </a:endParaRPr>
          </a:p>
        </p:txBody>
      </p:sp>
      <p:sp>
        <p:nvSpPr>
          <p:cNvPr id="9" name="Rounded Rectangle 8"/>
          <p:cNvSpPr/>
          <p:nvPr/>
        </p:nvSpPr>
        <p:spPr>
          <a:xfrm>
            <a:off x="3474720" y="1783080"/>
            <a:ext cx="2240280" cy="91440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Chunker</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one chunk per section</a:t>
            </a:r>
            <a:endParaRPr sz="1150" b="0" i="0">
              <a:solidFill>
                <a:srgbClr val="556278"/>
              </a:solidFill>
              <a:latin typeface="Calibri" panose="020F0502020204030204"/>
            </a:endParaRPr>
          </a:p>
        </p:txBody>
      </p:sp>
      <p:sp>
        <p:nvSpPr>
          <p:cNvPr id="10" name="Rounded Rectangle 9"/>
          <p:cNvSpPr/>
          <p:nvPr/>
        </p:nvSpPr>
        <p:spPr>
          <a:xfrm>
            <a:off x="6400800" y="1783080"/>
            <a:ext cx="2240280" cy="91440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Embeddings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bge-small · local</a:t>
            </a:r>
            <a:endParaRPr sz="1150" b="0" i="0">
              <a:solidFill>
                <a:srgbClr val="556278"/>
              </a:solidFill>
              <a:latin typeface="Calibri" panose="020F0502020204030204"/>
            </a:endParaRPr>
          </a:p>
        </p:txBody>
      </p:sp>
      <p:sp>
        <p:nvSpPr>
          <p:cNvPr id="11" name="Rounded Rectangle 10"/>
          <p:cNvSpPr/>
          <p:nvPr/>
        </p:nvSpPr>
        <p:spPr>
          <a:xfrm>
            <a:off x="9326880" y="1783080"/>
            <a:ext cx="2240280" cy="914400"/>
          </a:xfrm>
          <a:prstGeom prst="roundRect">
            <a:avLst>
              <a:gd name="adj" fmla="val 10000"/>
            </a:avLst>
          </a:prstGeom>
          <a:solidFill>
            <a:srgbClr val="F2F5FA"/>
          </a:solidFill>
          <a:ln w="15875">
            <a:solidFill>
              <a:srgbClr val="7A83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SQLite index</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text · keywords · vectors</a:t>
            </a:r>
            <a:endParaRPr sz="1150" b="0" i="0">
              <a:solidFill>
                <a:srgbClr val="556278"/>
              </a:solidFill>
              <a:latin typeface="Calibri" panose="020F0502020204030204"/>
            </a:endParaRPr>
          </a:p>
        </p:txBody>
      </p:sp>
      <p:cxnSp>
        <p:nvCxnSpPr>
          <p:cNvPr id="12" name="Connector 11"/>
          <p:cNvCxnSpPr/>
          <p:nvPr/>
        </p:nvCxnSpPr>
        <p:spPr>
          <a:xfrm>
            <a:off x="2788920" y="2240280"/>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715000" y="2240280"/>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41080" y="2240280"/>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3063240"/>
            <a:ext cx="3200400" cy="320040"/>
          </a:xfrm>
          <a:prstGeom prst="rect">
            <a:avLst/>
          </a:prstGeom>
          <a:noFill/>
        </p:spPr>
        <p:txBody>
          <a:bodyPr wrap="square" lIns="45720" tIns="27432" rIns="45720" bIns="27432" anchor="t">
            <a:spAutoFit/>
          </a:bodyPr>
          <a:lstStyle/>
          <a:p>
            <a:pPr algn="l">
              <a:spcAft>
                <a:spcPts val="600"/>
              </a:spcAft>
            </a:pPr>
            <a:r>
              <a:rPr sz="1150" b="1" i="0">
                <a:solidFill>
                  <a:srgbClr val="556278"/>
                </a:solidFill>
                <a:latin typeface="Calibri" panose="020F0502020204030204"/>
              </a:rPr>
              <a:t>EACH QUESTION</a:t>
            </a:r>
            <a:endParaRPr sz="1150" b="1" i="0">
              <a:solidFill>
                <a:srgbClr val="556278"/>
              </a:solidFill>
              <a:latin typeface="Calibri" panose="020F0502020204030204"/>
            </a:endParaRPr>
          </a:p>
        </p:txBody>
      </p:sp>
      <p:sp>
        <p:nvSpPr>
          <p:cNvPr id="16" name="Rounded Rectangle 15"/>
          <p:cNvSpPr/>
          <p:nvPr/>
        </p:nvSpPr>
        <p:spPr>
          <a:xfrm>
            <a:off x="548640" y="3383280"/>
            <a:ext cx="2240280" cy="91440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Question</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from the search tool</a:t>
            </a:r>
            <a:endParaRPr sz="1150" b="0" i="0">
              <a:solidFill>
                <a:srgbClr val="556278"/>
              </a:solidFill>
              <a:latin typeface="Calibri" panose="020F0502020204030204"/>
            </a:endParaRPr>
          </a:p>
        </p:txBody>
      </p:sp>
      <p:sp>
        <p:nvSpPr>
          <p:cNvPr id="17" name="Rounded Rectangle 16"/>
          <p:cNvSpPr/>
          <p:nvPr/>
        </p:nvSpPr>
        <p:spPr>
          <a:xfrm>
            <a:off x="3474720" y="3383280"/>
            <a:ext cx="2240280" cy="91440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Hybrid search</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keywords top 50 + vectors top 50</a:t>
            </a:r>
            <a:endParaRPr sz="1150" b="0" i="0">
              <a:solidFill>
                <a:srgbClr val="556278"/>
              </a:solidFill>
              <a:latin typeface="Calibri" panose="020F0502020204030204"/>
            </a:endParaRPr>
          </a:p>
        </p:txBody>
      </p:sp>
      <p:sp>
        <p:nvSpPr>
          <p:cNvPr id="18" name="Rounded Rectangle 17"/>
          <p:cNvSpPr/>
          <p:nvPr/>
        </p:nvSpPr>
        <p:spPr>
          <a:xfrm>
            <a:off x="6400800" y="3383280"/>
            <a:ext cx="2240280" cy="91440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Fuse</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reciprocal rank · top 5</a:t>
            </a:r>
            <a:endParaRPr sz="1150" b="0" i="0">
              <a:solidFill>
                <a:srgbClr val="556278"/>
              </a:solidFill>
              <a:latin typeface="Calibri" panose="020F0502020204030204"/>
            </a:endParaRPr>
          </a:p>
        </p:txBody>
      </p:sp>
      <p:sp>
        <p:nvSpPr>
          <p:cNvPr id="19" name="Rounded Rectangle 18"/>
          <p:cNvSpPr/>
          <p:nvPr/>
        </p:nvSpPr>
        <p:spPr>
          <a:xfrm>
            <a:off x="9326880" y="3383280"/>
            <a:ext cx="2240280" cy="914400"/>
          </a:xfrm>
          <a:prstGeom prst="roundRect">
            <a:avLst>
              <a:gd name="adj" fmla="val 10000"/>
            </a:avLst>
          </a:prstGeom>
          <a:solidFill>
            <a:srgbClr val="FFF4D6"/>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Confidence tiers</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best vector similarity</a:t>
            </a:r>
            <a:endParaRPr sz="1150" b="0" i="0">
              <a:solidFill>
                <a:srgbClr val="556278"/>
              </a:solidFill>
              <a:latin typeface="Calibri" panose="020F0502020204030204"/>
            </a:endParaRPr>
          </a:p>
        </p:txBody>
      </p:sp>
      <p:cxnSp>
        <p:nvCxnSpPr>
          <p:cNvPr id="20" name="Connector 19"/>
          <p:cNvCxnSpPr/>
          <p:nvPr/>
        </p:nvCxnSpPr>
        <p:spPr>
          <a:xfrm>
            <a:off x="2788920" y="3840480"/>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15000" y="3840480"/>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41080" y="3840480"/>
            <a:ext cx="6858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442448" y="2697480"/>
            <a:ext cx="0" cy="338328"/>
          </a:xfrm>
          <a:prstGeom prst="line">
            <a:avLst/>
          </a:prstGeom>
          <a:ln w="25400">
            <a:solidFill>
              <a:srgbClr val="2563EB"/>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572000" y="3035808"/>
            <a:ext cx="5870448" cy="0"/>
          </a:xfrm>
          <a:prstGeom prst="line">
            <a:avLst/>
          </a:prstGeom>
          <a:ln w="25400">
            <a:solidFill>
              <a:srgbClr val="2563EB"/>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72000" y="3035808"/>
            <a:ext cx="0" cy="347472"/>
          </a:xfrm>
          <a:prstGeom prst="line">
            <a:avLst/>
          </a:prstGeom>
          <a:ln w="25400">
            <a:solidFill>
              <a:srgbClr val="2563E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4663440"/>
            <a:ext cx="3611880" cy="1325880"/>
          </a:xfrm>
          <a:prstGeom prst="roundRect">
            <a:avLst>
              <a:gd name="adj" fmla="val 6000"/>
            </a:avLst>
          </a:prstGeom>
          <a:solidFill>
            <a:srgbClr val="DFF5F1"/>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400"/>
              </a:spcAft>
            </a:pPr>
            <a:r>
              <a:rPr sz="1600" b="1" i="0">
                <a:solidFill>
                  <a:srgbClr val="0D9488"/>
                </a:solidFill>
                <a:latin typeface="Calibri" panose="020F0502020204030204"/>
              </a:rPr>
              <a:t>0.655 or higher: confident</a:t>
            </a:r>
            <a:endParaRPr sz="1600" b="1" i="0">
              <a:solidFill>
                <a:srgbClr val="0D9488"/>
              </a:solidFill>
              <a:latin typeface="Calibri" panose="020F0502020204030204"/>
            </a:endParaRPr>
          </a:p>
          <a:p>
            <a:pPr algn="l">
              <a:spcAft>
                <a:spcPts val="200"/>
              </a:spcAft>
            </a:pPr>
            <a:r>
              <a:rPr sz="1400" b="0" i="0">
                <a:solidFill>
                  <a:srgbClr val="0F1B2D"/>
                </a:solidFill>
                <a:latin typeface="Calibri" panose="020F0502020204030204"/>
              </a:rPr>
              <a:t>The top 5 sections go to Claude, which cites them.</a:t>
            </a:r>
            <a:endParaRPr sz="1400" b="0" i="0">
              <a:solidFill>
                <a:srgbClr val="0F1B2D"/>
              </a:solidFill>
              <a:latin typeface="Calibri" panose="020F0502020204030204"/>
            </a:endParaRPr>
          </a:p>
        </p:txBody>
      </p:sp>
      <p:sp>
        <p:nvSpPr>
          <p:cNvPr id="27" name="Rounded Rectangle 26"/>
          <p:cNvSpPr/>
          <p:nvPr/>
        </p:nvSpPr>
        <p:spPr>
          <a:xfrm>
            <a:off x="4297679" y="4663440"/>
            <a:ext cx="3611880" cy="1325880"/>
          </a:xfrm>
          <a:prstGeom prst="roundRect">
            <a:avLst>
              <a:gd name="adj" fmla="val 6000"/>
            </a:avLst>
          </a:prstGeom>
          <a:solidFill>
            <a:srgbClr val="FFF4D6"/>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400"/>
              </a:spcAft>
            </a:pPr>
            <a:r>
              <a:rPr sz="1600" b="1" i="0">
                <a:solidFill>
                  <a:srgbClr val="B45309"/>
                </a:solidFill>
                <a:latin typeface="Calibri" panose="020F0502020204030204"/>
              </a:rPr>
              <a:t>0.50 to 0.655: weak match</a:t>
            </a:r>
            <a:endParaRPr sz="1600" b="1" i="0">
              <a:solidFill>
                <a:srgbClr val="B45309"/>
              </a:solidFill>
              <a:latin typeface="Calibri" panose="020F0502020204030204"/>
            </a:endParaRPr>
          </a:p>
          <a:p>
            <a:pPr algn="l">
              <a:spcAft>
                <a:spcPts val="200"/>
              </a:spcAft>
            </a:pPr>
            <a:r>
              <a:rPr sz="1400" b="0" i="0">
                <a:solidFill>
                  <a:srgbClr val="0F1B2D"/>
                </a:solidFill>
                <a:latin typeface="Calibri" panose="020F0502020204030204"/>
              </a:rPr>
              <a:t>Up to 3 sections, flagged. Used only if one directly answers.</a:t>
            </a:r>
            <a:endParaRPr sz="1400" b="0" i="0">
              <a:solidFill>
                <a:srgbClr val="0F1B2D"/>
              </a:solidFill>
              <a:latin typeface="Calibri" panose="020F0502020204030204"/>
            </a:endParaRPr>
          </a:p>
        </p:txBody>
      </p:sp>
      <p:sp>
        <p:nvSpPr>
          <p:cNvPr id="28" name="Rounded Rectangle 27"/>
          <p:cNvSpPr/>
          <p:nvPr/>
        </p:nvSpPr>
        <p:spPr>
          <a:xfrm>
            <a:off x="8046719" y="4663440"/>
            <a:ext cx="3611880" cy="1325880"/>
          </a:xfrm>
          <a:prstGeom prst="roundRect">
            <a:avLst>
              <a:gd name="adj" fmla="val 6000"/>
            </a:avLst>
          </a:prstGeom>
          <a:solidFill>
            <a:srgbClr val="FDE8E6"/>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400"/>
              </a:spcAft>
            </a:pPr>
            <a:r>
              <a:rPr sz="1600" b="1" i="0">
                <a:solidFill>
                  <a:srgbClr val="B3261E"/>
                </a:solidFill>
                <a:latin typeface="Calibri" panose="020F0502020204030204"/>
              </a:rPr>
              <a:t>Below 0.50: not found</a:t>
            </a:r>
            <a:endParaRPr sz="1600" b="1" i="0">
              <a:solidFill>
                <a:srgbClr val="B3261E"/>
              </a:solidFill>
              <a:latin typeface="Calibri" panose="020F0502020204030204"/>
            </a:endParaRPr>
          </a:p>
          <a:p>
            <a:pPr algn="l">
              <a:spcAft>
                <a:spcPts val="200"/>
              </a:spcAft>
            </a:pPr>
            <a:r>
              <a:rPr sz="1400" b="0" i="0">
                <a:solidFill>
                  <a:srgbClr val="0F1B2D"/>
                </a:solidFill>
                <a:latin typeface="Calibri" panose="020F0502020204030204"/>
              </a:rPr>
              <a:t>Say so and give the HR contact. No guessing.</a:t>
            </a:r>
            <a:endParaRPr sz="1400" b="0" i="0">
              <a:solidFill>
                <a:srgbClr val="0F1B2D"/>
              </a:solidFill>
              <a:latin typeface="Calibri" panose="020F0502020204030204"/>
            </a:endParaRPr>
          </a:p>
        </p:txBody>
      </p:sp>
      <p:sp>
        <p:nvSpPr>
          <p:cNvPr id="29" name="TextBox 28"/>
          <p:cNvSpPr txBox="1"/>
          <p:nvPr/>
        </p:nvSpPr>
        <p:spPr>
          <a:xfrm>
            <a:off x="548640" y="6053328"/>
            <a:ext cx="11064240" cy="320040"/>
          </a:xfrm>
          <a:prstGeom prst="rect">
            <a:avLst/>
          </a:prstGeom>
          <a:noFill/>
        </p:spPr>
        <p:txBody>
          <a:bodyPr wrap="square" lIns="45720" tIns="27432" rIns="45720" bIns="27432" anchor="t">
            <a:spAutoFit/>
          </a:bodyPr>
          <a:lstStyle/>
          <a:p>
            <a:pPr algn="l">
              <a:spcAft>
                <a:spcPts val="600"/>
              </a:spcAft>
            </a:pPr>
            <a:r>
              <a:rPr sz="1200" b="0" i="0">
                <a:solidFill>
                  <a:srgbClr val="556278"/>
                </a:solidFill>
                <a:latin typeface="Calibri" panose="020F0502020204030204"/>
              </a:rPr>
              <a:t>No reranker: with 53 sections it was not needed. Citations are plain text, and the verifier checks each one was retrieved.</a:t>
            </a:r>
            <a:endParaRPr sz="1200" b="0" i="0">
              <a:solidFill>
                <a:srgbClr val="556278"/>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Security: the model is treated as untrusted</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It can propose a tool and arguments. The server decides the rest.</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12</a:t>
            </a:r>
            <a:endParaRPr sz="1050" b="0" i="0">
              <a:solidFill>
                <a:srgbClr val="556278"/>
              </a:solidFill>
              <a:latin typeface="Calibri" panose="020F0502020204030204"/>
            </a:endParaRPr>
          </a:p>
        </p:txBody>
      </p:sp>
      <p:sp>
        <p:nvSpPr>
          <p:cNvPr id="7" name="Rounded Rectangle 6"/>
          <p:cNvSpPr/>
          <p:nvPr/>
        </p:nvSpPr>
        <p:spPr>
          <a:xfrm>
            <a:off x="548640" y="1691640"/>
            <a:ext cx="1828800" cy="105156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Model proposal</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tool name and</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arguments only</a:t>
            </a:r>
            <a:endParaRPr sz="1150" b="0" i="0">
              <a:solidFill>
                <a:srgbClr val="556278"/>
              </a:solidFill>
              <a:latin typeface="Calibri" panose="020F0502020204030204"/>
            </a:endParaRPr>
          </a:p>
        </p:txBody>
      </p:sp>
      <p:sp>
        <p:nvSpPr>
          <p:cNvPr id="8" name="Rounded Rectangle 7"/>
          <p:cNvSpPr/>
          <p:nvPr/>
        </p:nvSpPr>
        <p:spPr>
          <a:xfrm>
            <a:off x="2834640" y="1691640"/>
            <a:ext cx="1828800" cy="1051560"/>
          </a:xfrm>
          <a:prstGeom prst="roundRect">
            <a:avLst>
              <a:gd name="adj" fmla="val 10000"/>
            </a:avLst>
          </a:prstGeom>
          <a:solidFill>
            <a:srgbClr val="FFF4D6"/>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Server adds identity</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id and role from</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the signed token</a:t>
            </a:r>
            <a:endParaRPr sz="1150" b="0" i="0">
              <a:solidFill>
                <a:srgbClr val="556278"/>
              </a:solidFill>
              <a:latin typeface="Calibri" panose="020F0502020204030204"/>
            </a:endParaRPr>
          </a:p>
        </p:txBody>
      </p:sp>
      <p:sp>
        <p:nvSpPr>
          <p:cNvPr id="9" name="Rounded Rectangle 8"/>
          <p:cNvSpPr/>
          <p:nvPr/>
        </p:nvSpPr>
        <p:spPr>
          <a:xfrm>
            <a:off x="5120640" y="1691640"/>
            <a:ext cx="1828800" cy="105156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Tool call checked</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role allowed?</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unknown args rejected</a:t>
            </a:r>
            <a:endParaRPr sz="1150" b="0" i="0">
              <a:solidFill>
                <a:srgbClr val="556278"/>
              </a:solidFill>
              <a:latin typeface="Calibri" panose="020F0502020204030204"/>
            </a:endParaRPr>
          </a:p>
        </p:txBody>
      </p:sp>
      <p:sp>
        <p:nvSpPr>
          <p:cNvPr id="10" name="Rounded Rectangle 9"/>
          <p:cNvSpPr/>
          <p:nvPr/>
        </p:nvSpPr>
        <p:spPr>
          <a:xfrm>
            <a:off x="7406640" y="1691640"/>
            <a:ext cx="1828800" cy="1051560"/>
          </a:xfrm>
          <a:prstGeom prst="roundRect">
            <a:avLst>
              <a:gd name="adj" fmla="val 10000"/>
            </a:avLst>
          </a:prstGeom>
          <a:solidFill>
            <a:srgbClr val="FFFFFF"/>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Scoped repository</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SQL filtered by</a:t>
            </a:r>
            <a:endParaRPr sz="1150" b="0" i="0">
              <a:solidFill>
                <a:srgbClr val="556278"/>
              </a:solidFill>
              <a:latin typeface="Calibri" panose="020F0502020204030204"/>
            </a:endParaRPr>
          </a:p>
          <a:p>
            <a:pPr algn="ctr">
              <a:spcAft>
                <a:spcPts val="0"/>
              </a:spcAft>
            </a:pPr>
            <a:r>
              <a:rPr sz="1150" b="0" i="0">
                <a:solidFill>
                  <a:srgbClr val="556278"/>
                </a:solidFill>
                <a:latin typeface="Calibri" panose="020F0502020204030204"/>
              </a:rPr>
              <a:t>employee or manager</a:t>
            </a:r>
            <a:endParaRPr sz="1150" b="0" i="0">
              <a:solidFill>
                <a:srgbClr val="556278"/>
              </a:solidFill>
              <a:latin typeface="Calibri" panose="020F0502020204030204"/>
            </a:endParaRPr>
          </a:p>
        </p:txBody>
      </p:sp>
      <p:sp>
        <p:nvSpPr>
          <p:cNvPr id="11" name="Rounded Rectangle 10"/>
          <p:cNvSpPr/>
          <p:nvPr/>
        </p:nvSpPr>
        <p:spPr>
          <a:xfrm>
            <a:off x="9692640" y="1691640"/>
            <a:ext cx="1828800" cy="1051560"/>
          </a:xfrm>
          <a:prstGeom prst="roundRect">
            <a:avLst>
              <a:gd name="adj" fmla="val 10000"/>
            </a:avLst>
          </a:prstGeom>
          <a:solidFill>
            <a:srgbClr val="F2F5FA"/>
          </a:solidFill>
          <a:ln w="15875">
            <a:solidFill>
              <a:srgbClr val="7A83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SQLite</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HR data, drafts</a:t>
            </a:r>
            <a:endParaRPr sz="1150" b="0" i="0">
              <a:solidFill>
                <a:srgbClr val="556278"/>
              </a:solidFill>
              <a:latin typeface="Calibri" panose="020F0502020204030204"/>
            </a:endParaRPr>
          </a:p>
        </p:txBody>
      </p:sp>
      <p:cxnSp>
        <p:nvCxnSpPr>
          <p:cNvPr id="12" name="Connector 11"/>
          <p:cNvCxnSpPr/>
          <p:nvPr/>
        </p:nvCxnSpPr>
        <p:spPr>
          <a:xfrm>
            <a:off x="2377440" y="2212848"/>
            <a:ext cx="4572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63440" y="2212848"/>
            <a:ext cx="4572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949440" y="2212848"/>
            <a:ext cx="4572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235440" y="2212848"/>
            <a:ext cx="45720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20640" y="3200400"/>
            <a:ext cx="1828800" cy="868680"/>
          </a:xfrm>
          <a:prstGeom prst="roundRect">
            <a:avLst>
              <a:gd name="adj" fmla="val 10000"/>
            </a:avLst>
          </a:prstGeom>
          <a:solidFill>
            <a:srgbClr val="DFF5F1"/>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Domain rules</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pure, tested code</a:t>
            </a:r>
            <a:endParaRPr sz="1150" b="0" i="0">
              <a:solidFill>
                <a:srgbClr val="556278"/>
              </a:solidFill>
              <a:latin typeface="Calibri" panose="020F0502020204030204"/>
            </a:endParaRPr>
          </a:p>
        </p:txBody>
      </p:sp>
      <p:sp>
        <p:nvSpPr>
          <p:cNvPr id="17" name="Rounded Rectangle 16"/>
          <p:cNvSpPr/>
          <p:nvPr/>
        </p:nvSpPr>
        <p:spPr>
          <a:xfrm>
            <a:off x="7406640" y="3200400"/>
            <a:ext cx="1828800" cy="868680"/>
          </a:xfrm>
          <a:prstGeom prst="roundRect">
            <a:avLst>
              <a:gd name="adj" fmla="val 10000"/>
            </a:avLst>
          </a:prstGeom>
          <a:solidFill>
            <a:srgbClr val="F2F5FA"/>
          </a:solidFill>
          <a:ln w="15875">
            <a:solidFill>
              <a:srgbClr val="7A83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450" b="1" i="0">
                <a:solidFill>
                  <a:srgbClr val="0F1B2D"/>
                </a:solidFill>
                <a:latin typeface="Calibri" panose="020F0502020204030204"/>
              </a:rPr>
              <a:t>audit_log</a:t>
            </a:r>
            <a:endParaRPr sz="145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every call, even refused</a:t>
            </a:r>
            <a:endParaRPr sz="1150" b="0" i="0">
              <a:solidFill>
                <a:srgbClr val="556278"/>
              </a:solidFill>
              <a:latin typeface="Calibri" panose="020F0502020204030204"/>
            </a:endParaRPr>
          </a:p>
        </p:txBody>
      </p:sp>
      <p:cxnSp>
        <p:nvCxnSpPr>
          <p:cNvPr id="18" name="Connector 17"/>
          <p:cNvCxnSpPr/>
          <p:nvPr/>
        </p:nvCxnSpPr>
        <p:spPr>
          <a:xfrm>
            <a:off x="6035040" y="2743200"/>
            <a:ext cx="0" cy="45720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321040" y="2743200"/>
            <a:ext cx="0" cy="457200"/>
          </a:xfrm>
          <a:prstGeom prst="line">
            <a:avLst/>
          </a:prstGeom>
          <a:ln w="25400">
            <a:solidFill>
              <a:srgbClr val="55627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4434840"/>
            <a:ext cx="5440680" cy="841248"/>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spcAft>
                <a:spcPts val="200"/>
              </a:spcAft>
            </a:pPr>
            <a:r>
              <a:rPr sz="1400" b="0" i="0">
                <a:solidFill>
                  <a:srgbClr val="0F1B2D"/>
                </a:solidFill>
                <a:latin typeface="Calibri" panose="020F0502020204030204"/>
              </a:rPr>
              <a:t>Identity never comes from the model: a call that includes an employee id is rejected and audited.</a:t>
            </a:r>
            <a:endParaRPr sz="1400" b="0" i="0">
              <a:solidFill>
                <a:srgbClr val="0F1B2D"/>
              </a:solidFill>
              <a:latin typeface="Calibri" panose="020F0502020204030204"/>
            </a:endParaRPr>
          </a:p>
        </p:txBody>
      </p:sp>
      <p:sp>
        <p:nvSpPr>
          <p:cNvPr id="21" name="Rounded Rectangle 20"/>
          <p:cNvSpPr/>
          <p:nvPr/>
        </p:nvSpPr>
        <p:spPr>
          <a:xfrm>
            <a:off x="6217920" y="4434840"/>
            <a:ext cx="5440680" cy="841248"/>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spcAft>
                <a:spcPts val="200"/>
              </a:spcAft>
            </a:pPr>
            <a:r>
              <a:rPr sz="1400" b="0" i="0">
                <a:solidFill>
                  <a:srgbClr val="0F1B2D"/>
                </a:solidFill>
                <a:latin typeface="Calibri" panose="020F0502020204030204"/>
              </a:rPr>
              <a:t>Managers see direct reports only. The filter is inside the SQL query, not in the agent.</a:t>
            </a:r>
            <a:endParaRPr sz="1400" b="0" i="0">
              <a:solidFill>
                <a:srgbClr val="0F1B2D"/>
              </a:solidFill>
              <a:latin typeface="Calibri" panose="020F0502020204030204"/>
            </a:endParaRPr>
          </a:p>
        </p:txBody>
      </p:sp>
      <p:sp>
        <p:nvSpPr>
          <p:cNvPr id="22" name="Rounded Rectangle 21"/>
          <p:cNvSpPr/>
          <p:nvPr/>
        </p:nvSpPr>
        <p:spPr>
          <a:xfrm>
            <a:off x="548640" y="5394959"/>
            <a:ext cx="5440680" cy="841248"/>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spcAft>
                <a:spcPts val="200"/>
              </a:spcAft>
            </a:pPr>
            <a:r>
              <a:rPr sz="1400" b="0" i="0">
                <a:solidFill>
                  <a:srgbClr val="0F1B2D"/>
                </a:solidFill>
                <a:latin typeface="Calibri" panose="020F0502020204030204"/>
              </a:rPr>
              <a:t>The model can prepare a leave draft but cannot submit it.</a:t>
            </a:r>
            <a:endParaRPr sz="1400" b="0" i="0">
              <a:solidFill>
                <a:srgbClr val="0F1B2D"/>
              </a:solidFill>
              <a:latin typeface="Calibri" panose="020F0502020204030204"/>
            </a:endParaRPr>
          </a:p>
        </p:txBody>
      </p:sp>
      <p:sp>
        <p:nvSpPr>
          <p:cNvPr id="23" name="Rounded Rectangle 22"/>
          <p:cNvSpPr/>
          <p:nvPr/>
        </p:nvSpPr>
        <p:spPr>
          <a:xfrm>
            <a:off x="6217920" y="5394959"/>
            <a:ext cx="5440680" cy="841248"/>
          </a:xfrm>
          <a:prstGeom prst="roundRect">
            <a:avLst>
              <a:gd name="adj" fmla="val 10000"/>
            </a:avLst>
          </a:prstGeom>
          <a:solidFill>
            <a:srgbClr val="F2F5FA"/>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spcAft>
                <a:spcPts val="200"/>
              </a:spcAft>
            </a:pPr>
            <a:r>
              <a:rPr sz="1400" b="0" i="0">
                <a:solidFill>
                  <a:srgbClr val="0F1B2D"/>
                </a:solidFill>
                <a:latin typeface="Calibri" panose="020F0502020204030204"/>
              </a:rPr>
              <a:t>argon2 passwords, 60-minute tokens, lockout after 5 failures, 30 messages a minute, strict content-security policy.</a:t>
            </a:r>
            <a:endParaRPr sz="1400" b="0" i="0">
              <a:solidFill>
                <a:srgbClr val="0F1B2D"/>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Never trust the model: the verifier</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A deterministic check after every draft. It is code, not another model.</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13</a:t>
            </a:r>
            <a:endParaRPr sz="1050" b="0" i="0">
              <a:solidFill>
                <a:srgbClr val="556278"/>
              </a:solidFill>
              <a:latin typeface="Calibri" panose="020F0502020204030204"/>
            </a:endParaRPr>
          </a:p>
        </p:txBody>
      </p:sp>
      <p:sp>
        <p:nvSpPr>
          <p:cNvPr id="7" name="Rounded Rectangle 6"/>
          <p:cNvSpPr/>
          <p:nvPr/>
        </p:nvSpPr>
        <p:spPr>
          <a:xfrm>
            <a:off x="548640" y="1737360"/>
            <a:ext cx="1737360" cy="868680"/>
          </a:xfrm>
          <a:prstGeom prst="roundRect">
            <a:avLst>
              <a:gd name="adj" fmla="val 10000"/>
            </a:avLst>
          </a:prstGeom>
          <a:solidFill>
            <a:srgbClr val="F2F5FA"/>
          </a:solidFill>
          <a:ln w="15875">
            <a:solidFill>
              <a:srgbClr val="9AA8C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Draft</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from the model</a:t>
            </a:r>
            <a:endParaRPr sz="1150" b="0" i="0">
              <a:solidFill>
                <a:srgbClr val="556278"/>
              </a:solidFill>
              <a:latin typeface="Calibri" panose="020F0502020204030204"/>
            </a:endParaRPr>
          </a:p>
        </p:txBody>
      </p:sp>
      <p:sp>
        <p:nvSpPr>
          <p:cNvPr id="8" name="Rounded Rectangle 7"/>
          <p:cNvSpPr/>
          <p:nvPr/>
        </p:nvSpPr>
        <p:spPr>
          <a:xfrm>
            <a:off x="2834640" y="1737360"/>
            <a:ext cx="1737360" cy="868680"/>
          </a:xfrm>
          <a:prstGeom prst="roundRect">
            <a:avLst>
              <a:gd name="adj" fmla="val 10000"/>
            </a:avLst>
          </a:prstGeom>
          <a:solidFill>
            <a:srgbClr val="FFF4D6"/>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Verify</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checks</a:t>
            </a:r>
            <a:endParaRPr sz="1150" b="0" i="0">
              <a:solidFill>
                <a:srgbClr val="556278"/>
              </a:solidFill>
              <a:latin typeface="Calibri" panose="020F0502020204030204"/>
            </a:endParaRPr>
          </a:p>
        </p:txBody>
      </p:sp>
      <p:sp>
        <p:nvSpPr>
          <p:cNvPr id="9" name="Rounded Rectangle 8"/>
          <p:cNvSpPr/>
          <p:nvPr/>
        </p:nvSpPr>
        <p:spPr>
          <a:xfrm>
            <a:off x="5120640" y="1737360"/>
            <a:ext cx="1737360" cy="868680"/>
          </a:xfrm>
          <a:prstGeom prst="roundRect">
            <a:avLst>
              <a:gd name="adj" fmla="val 10000"/>
            </a:avLst>
          </a:prstGeom>
          <a:solidFill>
            <a:srgbClr val="DFF5F1"/>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Answer shown</a:t>
            </a:r>
            <a:endParaRPr sz="1500" b="1" i="0">
              <a:solidFill>
                <a:srgbClr val="0F1B2D"/>
              </a:solidFill>
              <a:latin typeface="Calibri" panose="020F0502020204030204"/>
            </a:endParaRPr>
          </a:p>
        </p:txBody>
      </p:sp>
      <p:sp>
        <p:nvSpPr>
          <p:cNvPr id="10" name="Rounded Rectangle 9"/>
          <p:cNvSpPr/>
          <p:nvPr/>
        </p:nvSpPr>
        <p:spPr>
          <a:xfrm>
            <a:off x="2834640" y="3200400"/>
            <a:ext cx="1737360" cy="868680"/>
          </a:xfrm>
          <a:prstGeom prst="roundRect">
            <a:avLst>
              <a:gd name="adj" fmla="val 10000"/>
            </a:avLst>
          </a:prstGeom>
          <a:solidFill>
            <a:srgbClr val="E8F0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Rewrite</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up to 2 times</a:t>
            </a:r>
            <a:endParaRPr sz="1150" b="0" i="0">
              <a:solidFill>
                <a:srgbClr val="556278"/>
              </a:solidFill>
              <a:latin typeface="Calibri" panose="020F0502020204030204"/>
            </a:endParaRPr>
          </a:p>
        </p:txBody>
      </p:sp>
      <p:sp>
        <p:nvSpPr>
          <p:cNvPr id="11" name="Rounded Rectangle 10"/>
          <p:cNvSpPr/>
          <p:nvPr/>
        </p:nvSpPr>
        <p:spPr>
          <a:xfrm>
            <a:off x="5120640" y="3200400"/>
            <a:ext cx="1737360" cy="868680"/>
          </a:xfrm>
          <a:prstGeom prst="roundRect">
            <a:avLst>
              <a:gd name="adj" fmla="val 10000"/>
            </a:avLst>
          </a:prstGeom>
          <a:solidFill>
            <a:srgbClr val="FDE8E6"/>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500" b="1" i="0">
                <a:solidFill>
                  <a:srgbClr val="0F1B2D"/>
                </a:solidFill>
                <a:latin typeface="Calibri" panose="020F0502020204030204"/>
              </a:rPr>
              <a:t>Plain fallback</a:t>
            </a:r>
            <a:endParaRPr sz="1500" b="1" i="0">
              <a:solidFill>
                <a:srgbClr val="0F1B2D"/>
              </a:solidFill>
              <a:latin typeface="Calibri" panose="020F0502020204030204"/>
            </a:endParaRPr>
          </a:p>
          <a:p>
            <a:pPr algn="ctr">
              <a:spcAft>
                <a:spcPts val="0"/>
              </a:spcAft>
            </a:pPr>
            <a:r>
              <a:rPr sz="1150" b="0" i="0">
                <a:solidFill>
                  <a:srgbClr val="556278"/>
                </a:solidFill>
                <a:latin typeface="Calibri" panose="020F0502020204030204"/>
              </a:rPr>
              <a:t>from tool output</a:t>
            </a:r>
            <a:endParaRPr sz="1150" b="0" i="0">
              <a:solidFill>
                <a:srgbClr val="556278"/>
              </a:solidFill>
              <a:latin typeface="Calibri" panose="020F0502020204030204"/>
            </a:endParaRPr>
          </a:p>
        </p:txBody>
      </p:sp>
      <p:cxnSp>
        <p:nvCxnSpPr>
          <p:cNvPr id="12" name="Connector 11"/>
          <p:cNvCxnSpPr/>
          <p:nvPr/>
        </p:nvCxnSpPr>
        <p:spPr>
          <a:xfrm>
            <a:off x="2286000" y="2167128"/>
            <a:ext cx="54864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72000" y="2167128"/>
            <a:ext cx="548640" cy="0"/>
          </a:xfrm>
          <a:prstGeom prst="line">
            <a:avLst/>
          </a:prstGeom>
          <a:ln w="25400">
            <a:solidFill>
              <a:srgbClr val="5562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0" y="1737360"/>
            <a:ext cx="548640" cy="320040"/>
          </a:xfrm>
          <a:prstGeom prst="rect">
            <a:avLst/>
          </a:prstGeom>
          <a:noFill/>
        </p:spPr>
        <p:txBody>
          <a:bodyPr wrap="square" lIns="45720" tIns="27432" rIns="45720" bIns="27432" anchor="t">
            <a:spAutoFit/>
          </a:bodyPr>
          <a:lstStyle/>
          <a:p>
            <a:pPr algn="ctr">
              <a:spcAft>
                <a:spcPts val="600"/>
              </a:spcAft>
            </a:pPr>
            <a:r>
              <a:rPr sz="1150" b="0" i="0">
                <a:solidFill>
                  <a:srgbClr val="556278"/>
                </a:solidFill>
                <a:latin typeface="Calibri" panose="020F0502020204030204"/>
              </a:rPr>
              <a:t>pass</a:t>
            </a:r>
            <a:endParaRPr sz="1150" b="0" i="0">
              <a:solidFill>
                <a:srgbClr val="556278"/>
              </a:solidFill>
              <a:latin typeface="Calibri" panose="020F0502020204030204"/>
            </a:endParaRPr>
          </a:p>
        </p:txBody>
      </p:sp>
      <p:cxnSp>
        <p:nvCxnSpPr>
          <p:cNvPr id="15" name="Connector 14"/>
          <p:cNvCxnSpPr/>
          <p:nvPr/>
        </p:nvCxnSpPr>
        <p:spPr>
          <a:xfrm>
            <a:off x="3703320" y="2606040"/>
            <a:ext cx="0" cy="594360"/>
          </a:xfrm>
          <a:prstGeom prst="line">
            <a:avLst/>
          </a:prstGeom>
          <a:ln w="25400">
            <a:solidFill>
              <a:srgbClr val="B326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94760" y="2743200"/>
            <a:ext cx="1097280" cy="320040"/>
          </a:xfrm>
          <a:prstGeom prst="rect">
            <a:avLst/>
          </a:prstGeom>
          <a:noFill/>
        </p:spPr>
        <p:txBody>
          <a:bodyPr wrap="square" lIns="45720" tIns="27432" rIns="45720" bIns="27432" anchor="t">
            <a:spAutoFit/>
          </a:bodyPr>
          <a:lstStyle/>
          <a:p>
            <a:pPr algn="l">
              <a:spcAft>
                <a:spcPts val="600"/>
              </a:spcAft>
            </a:pPr>
            <a:r>
              <a:rPr sz="1150" b="0" i="0">
                <a:solidFill>
                  <a:srgbClr val="B3261E"/>
                </a:solidFill>
                <a:latin typeface="Calibri" panose="020F0502020204030204"/>
              </a:rPr>
              <a:t>problems</a:t>
            </a:r>
            <a:endParaRPr sz="1150" b="0" i="0">
              <a:solidFill>
                <a:srgbClr val="B3261E"/>
              </a:solidFill>
              <a:latin typeface="Calibri" panose="020F0502020204030204"/>
            </a:endParaRPr>
          </a:p>
        </p:txBody>
      </p:sp>
      <p:cxnSp>
        <p:nvCxnSpPr>
          <p:cNvPr id="17" name="Connector 16"/>
          <p:cNvCxnSpPr/>
          <p:nvPr/>
        </p:nvCxnSpPr>
        <p:spPr>
          <a:xfrm>
            <a:off x="4572000" y="3630168"/>
            <a:ext cx="548640" cy="0"/>
          </a:xfrm>
          <a:prstGeom prst="line">
            <a:avLst/>
          </a:prstGeom>
          <a:ln w="25400">
            <a:solidFill>
              <a:srgbClr val="55627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0" y="3291840"/>
            <a:ext cx="548640" cy="320040"/>
          </a:xfrm>
          <a:prstGeom prst="rect">
            <a:avLst/>
          </a:prstGeom>
          <a:noFill/>
        </p:spPr>
        <p:txBody>
          <a:bodyPr wrap="square" lIns="45720" tIns="27432" rIns="45720" bIns="27432" anchor="t">
            <a:spAutoFit/>
          </a:bodyPr>
          <a:lstStyle/>
          <a:p>
            <a:pPr algn="ctr">
              <a:spcAft>
                <a:spcPts val="600"/>
              </a:spcAft>
            </a:pPr>
            <a:r>
              <a:rPr sz="1150" b="0" i="0">
                <a:solidFill>
                  <a:srgbClr val="556278"/>
                </a:solidFill>
                <a:latin typeface="Calibri" panose="020F0502020204030204"/>
              </a:rPr>
              <a:t>still</a:t>
            </a:r>
            <a:endParaRPr sz="1150" b="0" i="0">
              <a:solidFill>
                <a:srgbClr val="556278"/>
              </a:solidFill>
              <a:latin typeface="Calibri" panose="020F0502020204030204"/>
            </a:endParaRPr>
          </a:p>
        </p:txBody>
      </p:sp>
      <p:sp>
        <p:nvSpPr>
          <p:cNvPr id="19" name="TextBox 18"/>
          <p:cNvSpPr txBox="1"/>
          <p:nvPr/>
        </p:nvSpPr>
        <p:spPr>
          <a:xfrm>
            <a:off x="548640" y="4251960"/>
            <a:ext cx="6400800" cy="548640"/>
          </a:xfrm>
          <a:prstGeom prst="rect">
            <a:avLst/>
          </a:prstGeom>
          <a:noFill/>
        </p:spPr>
        <p:txBody>
          <a:bodyPr wrap="square" lIns="45720" tIns="27432" rIns="45720" bIns="27432" anchor="t">
            <a:spAutoFit/>
          </a:bodyPr>
          <a:lstStyle/>
          <a:p>
            <a:pPr algn="l">
              <a:spcAft>
                <a:spcPts val="600"/>
              </a:spcAft>
            </a:pPr>
            <a:r>
              <a:rPr sz="1300" b="0" i="0">
                <a:solidFill>
                  <a:srgbClr val="556278"/>
                </a:solidFill>
                <a:latin typeface="Calibri" panose="020F0502020204030204"/>
              </a:rPr>
              <a:t>A rewrite is checked again. The fallback is built only from tool output and also passes the verifier.</a:t>
            </a:r>
            <a:endParaRPr sz="1300" b="0" i="0">
              <a:solidFill>
                <a:srgbClr val="556278"/>
              </a:solidFill>
              <a:latin typeface="Calibri" panose="020F0502020204030204"/>
            </a:endParaRPr>
          </a:p>
        </p:txBody>
      </p:sp>
      <p:sp>
        <p:nvSpPr>
          <p:cNvPr id="20" name="Rounded Rectangle 19"/>
          <p:cNvSpPr/>
          <p:nvPr/>
        </p:nvSpPr>
        <p:spPr>
          <a:xfrm>
            <a:off x="7315200" y="1645920"/>
            <a:ext cx="4343400" cy="3154680"/>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1" name="Rectangle 20"/>
          <p:cNvSpPr/>
          <p:nvPr/>
        </p:nvSpPr>
        <p:spPr>
          <a:xfrm>
            <a:off x="7315200" y="1645920"/>
            <a:ext cx="82296" cy="3154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2" name="TextBox 21"/>
          <p:cNvSpPr txBox="1"/>
          <p:nvPr/>
        </p:nvSpPr>
        <p:spPr>
          <a:xfrm>
            <a:off x="7543800" y="1783080"/>
            <a:ext cx="3977639" cy="457200"/>
          </a:xfrm>
          <a:prstGeom prst="rect">
            <a:avLst/>
          </a:prstGeom>
          <a:noFill/>
        </p:spPr>
        <p:txBody>
          <a:bodyPr wrap="square" lIns="45720" tIns="27432" rIns="45720" bIns="27432" anchor="t">
            <a:spAutoFit/>
          </a:bodyPr>
          <a:lstStyle/>
          <a:p>
            <a:pPr algn="l">
              <a:spcAft>
                <a:spcPts val="600"/>
              </a:spcAft>
            </a:pPr>
            <a:r>
              <a:rPr sz="1700" b="1" i="0">
                <a:solidFill>
                  <a:srgbClr val="B45309"/>
                </a:solidFill>
                <a:latin typeface="Calibri" panose="020F0502020204030204"/>
              </a:rPr>
              <a:t>What it checks</a:t>
            </a:r>
            <a:endParaRPr sz="1700" b="1" i="0">
              <a:solidFill>
                <a:srgbClr val="B45309"/>
              </a:solidFill>
              <a:latin typeface="Calibri" panose="020F0502020204030204"/>
            </a:endParaRPr>
          </a:p>
        </p:txBody>
      </p:sp>
      <p:sp>
        <p:nvSpPr>
          <p:cNvPr id="23" name="TextBox 22"/>
          <p:cNvSpPr txBox="1"/>
          <p:nvPr/>
        </p:nvSpPr>
        <p:spPr>
          <a:xfrm>
            <a:off x="7543800" y="2286000"/>
            <a:ext cx="3931920" cy="2423160"/>
          </a:xfrm>
          <a:prstGeom prst="rect">
            <a:avLst/>
          </a:prstGeom>
          <a:noFill/>
        </p:spPr>
        <p:txBody>
          <a:bodyPr wrap="square" lIns="45720" tIns="27432" rIns="45720" bIns="27432" anchor="t">
            <a:spAutoFit/>
          </a:bodyPr>
          <a:lstStyle/>
          <a:p>
            <a:pPr marL="247015" indent="-247015" algn="l">
              <a:spcAft>
                <a:spcPts val="700"/>
              </a:spcAft>
              <a:buChar char="•"/>
            </a:pPr>
            <a:r>
              <a:rPr sz="1400" b="0" i="0">
                <a:solidFill>
                  <a:srgbClr val="0F1B2D"/>
                </a:solidFill>
                <a:latin typeface="Calibri" panose="020F0502020204030204"/>
              </a:rPr>
              <a:t>Every number and date is in the tool results or the user's message</a:t>
            </a:r>
            <a:endParaRPr sz="1400" b="0" i="0">
              <a:solidFill>
                <a:srgbClr val="0F1B2D"/>
              </a:solidFill>
              <a:latin typeface="Calibri" panose="020F0502020204030204"/>
            </a:endParaRPr>
          </a:p>
          <a:p>
            <a:pPr marL="247015" indent="-247015" algn="l">
              <a:spcAft>
                <a:spcPts val="700"/>
              </a:spcAft>
              <a:buChar char="•"/>
            </a:pPr>
            <a:r>
              <a:rPr sz="1400" b="0" i="0">
                <a:solidFill>
                  <a:srgbClr val="0F1B2D"/>
                </a:solidFill>
                <a:latin typeface="Calibri" panose="020F0502020204030204"/>
              </a:rPr>
              <a:t>Every citation was retrieved this turn</a:t>
            </a:r>
            <a:endParaRPr sz="1400" b="0" i="0">
              <a:solidFill>
                <a:srgbClr val="0F1B2D"/>
              </a:solidFill>
              <a:latin typeface="Calibri" panose="020F0502020204030204"/>
            </a:endParaRPr>
          </a:p>
          <a:p>
            <a:pPr marL="247015" indent="-247015" algn="l">
              <a:spcAft>
                <a:spcPts val="700"/>
              </a:spcAft>
              <a:buChar char="•"/>
            </a:pPr>
            <a:r>
              <a:rPr sz="1400" b="0" i="0">
                <a:solidFill>
                  <a:srgbClr val="0F1B2D"/>
                </a:solidFill>
                <a:latin typeface="Calibri" panose="020F0502020204030204"/>
              </a:rPr>
              <a:t>Policy answers must cite their source</a:t>
            </a:r>
            <a:endParaRPr sz="1400" b="0" i="0">
              <a:solidFill>
                <a:srgbClr val="0F1B2D"/>
              </a:solidFill>
              <a:latin typeface="Calibri" panose="020F0502020204030204"/>
            </a:endParaRPr>
          </a:p>
          <a:p>
            <a:pPr marL="247015" indent="-247015" algn="l">
              <a:spcAft>
                <a:spcPts val="700"/>
              </a:spcAft>
              <a:buChar char="•"/>
            </a:pPr>
            <a:r>
              <a:rPr sz="1400" b="0" i="0">
                <a:solidFill>
                  <a:srgbClr val="0F1B2D"/>
                </a:solidFill>
                <a:latin typeface="Calibri" panose="020F0502020204030204"/>
              </a:rPr>
              <a:t>No other employee's name appears</a:t>
            </a:r>
            <a:endParaRPr sz="1400" b="0" i="0">
              <a:solidFill>
                <a:srgbClr val="0F1B2D"/>
              </a:solidFill>
              <a:latin typeface="Calibri" panose="020F0502020204030204"/>
            </a:endParaRPr>
          </a:p>
          <a:p>
            <a:pPr marL="247015" indent="-247015" algn="l">
              <a:spcAft>
                <a:spcPts val="700"/>
              </a:spcAft>
              <a:buChar char="•"/>
            </a:pPr>
            <a:r>
              <a:rPr sz="1400" b="0" i="0">
                <a:solidFill>
                  <a:srgbClr val="0F1B2D"/>
                </a:solidFill>
                <a:latin typeface="Calibri" panose="020F0502020204030204"/>
              </a:rPr>
              <a:t>Sensitive replies stay within four sentences</a:t>
            </a:r>
            <a:endParaRPr sz="1400" b="0" i="0">
              <a:solidFill>
                <a:srgbClr val="0F1B2D"/>
              </a:solidFill>
              <a:latin typeface="Calibri" panose="020F0502020204030204"/>
            </a:endParaRPr>
          </a:p>
        </p:txBody>
      </p:sp>
      <p:sp>
        <p:nvSpPr>
          <p:cNvPr id="24" name="Rounded Rectangle 23"/>
          <p:cNvSpPr/>
          <p:nvPr/>
        </p:nvSpPr>
        <p:spPr>
          <a:xfrm>
            <a:off x="548640" y="5029200"/>
            <a:ext cx="3611880" cy="1188720"/>
          </a:xfrm>
          <a:prstGeom prst="roundRect">
            <a:avLst>
              <a:gd name="adj" fmla="val 6000"/>
            </a:avLst>
          </a:prstGeom>
          <a:solidFill>
            <a:srgbClr val="FFFFFF"/>
          </a:solidFill>
          <a:ln w="2222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0"/>
              </a:spcAft>
            </a:pPr>
            <a:r>
              <a:rPr sz="2800" b="1" i="0">
                <a:solidFill>
                  <a:srgbClr val="2563EB"/>
                </a:solidFill>
                <a:latin typeface="Calibri" panose="020F0502020204030204"/>
              </a:rPr>
              <a:t>9 of 120</a:t>
            </a:r>
            <a:endParaRPr sz="2800" b="1" i="0">
              <a:solidFill>
                <a:srgbClr val="2563EB"/>
              </a:solidFill>
              <a:latin typeface="Calibri" panose="020F0502020204030204"/>
            </a:endParaRPr>
          </a:p>
          <a:p>
            <a:pPr algn="l">
              <a:spcAft>
                <a:spcPts val="200"/>
              </a:spcAft>
            </a:pPr>
            <a:r>
              <a:rPr sz="1300" b="0" i="0">
                <a:solidFill>
                  <a:srgbClr val="0F1B2D"/>
                </a:solidFill>
                <a:latin typeface="Calibri" panose="020F0502020204030204"/>
              </a:rPr>
              <a:t>development answers needed a rewrite (7.5%)</a:t>
            </a:r>
            <a:endParaRPr sz="1300" b="0" i="0">
              <a:solidFill>
                <a:srgbClr val="0F1B2D"/>
              </a:solidFill>
              <a:latin typeface="Calibri" panose="020F0502020204030204"/>
            </a:endParaRPr>
          </a:p>
        </p:txBody>
      </p:sp>
      <p:sp>
        <p:nvSpPr>
          <p:cNvPr id="25" name="Rounded Rectangle 24"/>
          <p:cNvSpPr/>
          <p:nvPr/>
        </p:nvSpPr>
        <p:spPr>
          <a:xfrm>
            <a:off x="4297679" y="5029200"/>
            <a:ext cx="3611880" cy="1188720"/>
          </a:xfrm>
          <a:prstGeom prst="roundRect">
            <a:avLst>
              <a:gd name="adj" fmla="val 6000"/>
            </a:avLst>
          </a:prstGeom>
          <a:solidFill>
            <a:srgbClr val="FFFFFF"/>
          </a:solidFill>
          <a:ln w="22225">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0"/>
              </a:spcAft>
            </a:pPr>
            <a:r>
              <a:rPr sz="2800" b="1" i="0">
                <a:solidFill>
                  <a:srgbClr val="0D9488"/>
                </a:solidFill>
                <a:latin typeface="Calibri" panose="020F0502020204030204"/>
              </a:rPr>
              <a:t>0 of 180</a:t>
            </a:r>
            <a:endParaRPr sz="2800" b="1" i="0">
              <a:solidFill>
                <a:srgbClr val="0D9488"/>
              </a:solidFill>
              <a:latin typeface="Calibri" panose="020F0502020204030204"/>
            </a:endParaRPr>
          </a:p>
          <a:p>
            <a:pPr algn="l">
              <a:spcAft>
                <a:spcPts val="200"/>
              </a:spcAft>
            </a:pPr>
            <a:r>
              <a:rPr sz="1300" b="0" i="0">
                <a:solidFill>
                  <a:srgbClr val="0F1B2D"/>
                </a:solidFill>
                <a:latin typeface="Calibri" panose="020F0502020204030204"/>
              </a:rPr>
              <a:t>answers fell back to the plain template, across all three sets</a:t>
            </a:r>
            <a:endParaRPr sz="1300" b="0" i="0">
              <a:solidFill>
                <a:srgbClr val="0F1B2D"/>
              </a:solidFill>
              <a:latin typeface="Calibri" panose="020F0502020204030204"/>
            </a:endParaRPr>
          </a:p>
        </p:txBody>
      </p:sp>
      <p:sp>
        <p:nvSpPr>
          <p:cNvPr id="26" name="Rounded Rectangle 25"/>
          <p:cNvSpPr/>
          <p:nvPr/>
        </p:nvSpPr>
        <p:spPr>
          <a:xfrm>
            <a:off x="8046719" y="5029200"/>
            <a:ext cx="3611880" cy="1188720"/>
          </a:xfrm>
          <a:prstGeom prst="roundRect">
            <a:avLst>
              <a:gd name="adj" fmla="val 6000"/>
            </a:avLst>
          </a:prstGeom>
          <a:solidFill>
            <a:srgbClr val="FFFFFF"/>
          </a:solidFill>
          <a:ln w="22225">
            <a:solidFill>
              <a:srgbClr val="B3261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0"/>
              </a:spcAft>
            </a:pPr>
            <a:r>
              <a:rPr sz="2800" b="1" i="0">
                <a:solidFill>
                  <a:srgbClr val="B3261E"/>
                </a:solidFill>
                <a:latin typeface="Calibri" panose="020F0502020204030204"/>
              </a:rPr>
              <a:t>1 known gap</a:t>
            </a:r>
            <a:endParaRPr sz="2800" b="1" i="0">
              <a:solidFill>
                <a:srgbClr val="B3261E"/>
              </a:solidFill>
              <a:latin typeface="Calibri" panose="020F0502020204030204"/>
            </a:endParaRPr>
          </a:p>
          <a:p>
            <a:pPr algn="l">
              <a:spcAft>
                <a:spcPts val="200"/>
              </a:spcAft>
            </a:pPr>
            <a:r>
              <a:rPr sz="1300" b="0" i="0">
                <a:solidFill>
                  <a:srgbClr val="0F1B2D"/>
                </a:solidFill>
                <a:latin typeface="Calibri" panose="020F0502020204030204"/>
              </a:rPr>
              <a:t>numbers written as words, like “sixty days”, are not checked</a:t>
            </a:r>
            <a:endParaRPr sz="1300" b="0" i="0">
              <a:solidFill>
                <a:srgbClr val="0F1B2D"/>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How we know it works</a:t>
            </a:r>
            <a:endParaRPr sz="3000" b="1" i="0">
              <a:solidFill>
                <a:srgbClr val="0A1730"/>
              </a:solidFill>
              <a:latin typeface="Calibri" panose="020F0502020204030204"/>
            </a:endParaRPr>
          </a:p>
        </p:txBody>
      </p:sp>
      <p:sp>
        <p:nvSpPr>
          <p:cNvPr id="4" name="TextBox 3"/>
          <p:cNvSpPr txBox="1"/>
          <p:nvPr/>
        </p:nvSpPr>
        <p:spPr>
          <a:xfrm>
            <a:off x="502920" y="1051560"/>
            <a:ext cx="11155680" cy="411480"/>
          </a:xfrm>
          <a:prstGeom prst="rect">
            <a:avLst/>
          </a:prstGeom>
          <a:noFill/>
        </p:spPr>
        <p:txBody>
          <a:bodyPr wrap="square" lIns="45720" tIns="27432" rIns="45720" bIns="27432" anchor="t">
            <a:spAutoFit/>
          </a:bodyPr>
          <a:lstStyle/>
          <a:p>
            <a:pPr algn="l">
              <a:spcAft>
                <a:spcPts val="600"/>
              </a:spcAft>
            </a:pPr>
            <a:r>
              <a:rPr sz="1600" b="0" i="0">
                <a:solidFill>
                  <a:srgbClr val="556278"/>
                </a:solidFill>
                <a:latin typeface="Calibri" panose="020F0502020204030204"/>
              </a:rPr>
              <a:t>Run against the live system: Claude Sonnet 5.5 answering, Haiku 4.5 routing</a:t>
            </a:r>
            <a:endParaRPr sz="1600" b="0" i="0">
              <a:solidFill>
                <a:srgbClr val="556278"/>
              </a:solidFill>
              <a:latin typeface="Calibri" panose="020F0502020204030204"/>
            </a:endParaRPr>
          </a:p>
        </p:txBody>
      </p:sp>
      <p:sp>
        <p:nvSpPr>
          <p:cNvPr id="5" name="TextBox 4"/>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6" name="TextBox 5"/>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14</a:t>
            </a:r>
            <a:endParaRPr sz="1050" b="0" i="0">
              <a:solidFill>
                <a:srgbClr val="556278"/>
              </a:solidFill>
              <a:latin typeface="Calibri" panose="020F0502020204030204"/>
            </a:endParaRPr>
          </a:p>
        </p:txBody>
      </p:sp>
      <p:sp>
        <p:nvSpPr>
          <p:cNvPr id="7" name="Rounded Rectangle 6"/>
          <p:cNvSpPr/>
          <p:nvPr/>
        </p:nvSpPr>
        <p:spPr>
          <a:xfrm>
            <a:off x="548640" y="1691640"/>
            <a:ext cx="3611880" cy="1920240"/>
          </a:xfrm>
          <a:prstGeom prst="roundRect">
            <a:avLst>
              <a:gd name="adj" fmla="val 5000"/>
            </a:avLst>
          </a:prstGeom>
          <a:solidFill>
            <a:srgbClr val="FFFFFF"/>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t"/>
          <a:lstStyle/>
          <a:p>
            <a:pPr algn="l">
              <a:spcAft>
                <a:spcPts val="0"/>
              </a:spcAft>
            </a:pPr>
            <a:r>
              <a:rPr sz="4000" b="1" i="0">
                <a:solidFill>
                  <a:srgbClr val="0D9488"/>
                </a:solidFill>
                <a:latin typeface="Calibri" panose="020F0502020204030204"/>
              </a:rPr>
              <a:t>29 / 30</a:t>
            </a:r>
            <a:endParaRPr sz="4000" b="1" i="0">
              <a:solidFill>
                <a:srgbClr val="0D9488"/>
              </a:solidFill>
              <a:latin typeface="Calibri" panose="020F0502020204030204"/>
            </a:endParaRPr>
          </a:p>
          <a:p>
            <a:pPr algn="l">
              <a:spcAft>
                <a:spcPts val="400"/>
              </a:spcAft>
            </a:pPr>
            <a:r>
              <a:rPr sz="1600" b="1" i="0">
                <a:solidFill>
                  <a:srgbClr val="0A1730"/>
                </a:solidFill>
                <a:latin typeface="Calibri" panose="020F0502020204030204"/>
              </a:rPr>
              <a:t>Held-out questions (96.7%)</a:t>
            </a:r>
            <a:endParaRPr sz="1600" b="1" i="0">
              <a:solidFill>
                <a:srgbClr val="0A1730"/>
              </a:solidFill>
              <a:latin typeface="Calibri" panose="020F0502020204030204"/>
            </a:endParaRPr>
          </a:p>
          <a:p>
            <a:pPr algn="l">
              <a:spcAft>
                <a:spcPts val="200"/>
              </a:spcAft>
            </a:pPr>
            <a:r>
              <a:rPr sz="1300" b="0" i="0">
                <a:solidFill>
                  <a:srgbClr val="0F1B2D"/>
                </a:solidFill>
                <a:latin typeface="Calibri" panose="020F0502020204030204"/>
              </a:rPr>
              <a:t>95% interval 83% to 99%. Written first, run once, not tuned against.</a:t>
            </a:r>
            <a:endParaRPr sz="1300" b="0" i="0">
              <a:solidFill>
                <a:srgbClr val="0F1B2D"/>
              </a:solidFill>
              <a:latin typeface="Calibri" panose="020F0502020204030204"/>
            </a:endParaRPr>
          </a:p>
        </p:txBody>
      </p:sp>
      <p:sp>
        <p:nvSpPr>
          <p:cNvPr id="8" name="Rounded Rectangle 7"/>
          <p:cNvSpPr/>
          <p:nvPr/>
        </p:nvSpPr>
        <p:spPr>
          <a:xfrm>
            <a:off x="4297679" y="1691640"/>
            <a:ext cx="3611880" cy="1920240"/>
          </a:xfrm>
          <a:prstGeom prst="roundRect">
            <a:avLst>
              <a:gd name="adj" fmla="val 5000"/>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t"/>
          <a:lstStyle/>
          <a:p>
            <a:pPr algn="l">
              <a:spcAft>
                <a:spcPts val="0"/>
              </a:spcAft>
            </a:pPr>
            <a:r>
              <a:rPr sz="4000" b="1" i="0">
                <a:solidFill>
                  <a:srgbClr val="2563EB"/>
                </a:solidFill>
                <a:latin typeface="Calibri" panose="020F0502020204030204"/>
              </a:rPr>
              <a:t>119 / 120</a:t>
            </a:r>
            <a:endParaRPr sz="4000" b="1" i="0">
              <a:solidFill>
                <a:srgbClr val="2563EB"/>
              </a:solidFill>
              <a:latin typeface="Calibri" panose="020F0502020204030204"/>
            </a:endParaRPr>
          </a:p>
          <a:p>
            <a:pPr algn="l">
              <a:spcAft>
                <a:spcPts val="400"/>
              </a:spcAft>
            </a:pPr>
            <a:r>
              <a:rPr sz="1600" b="1" i="0">
                <a:solidFill>
                  <a:srgbClr val="0A1730"/>
                </a:solidFill>
                <a:latin typeface="Calibri" panose="020F0502020204030204"/>
              </a:rPr>
              <a:t>Development set (99.2%)</a:t>
            </a:r>
            <a:endParaRPr sz="1600" b="1" i="0">
              <a:solidFill>
                <a:srgbClr val="0A1730"/>
              </a:solidFill>
              <a:latin typeface="Calibri" panose="020F0502020204030204"/>
            </a:endParaRPr>
          </a:p>
          <a:p>
            <a:pPr algn="l">
              <a:spcAft>
                <a:spcPts val="200"/>
              </a:spcAft>
            </a:pPr>
            <a:r>
              <a:rPr sz="1300" b="0" i="0">
                <a:solidFill>
                  <a:srgbClr val="0F1B2D"/>
                </a:solidFill>
                <a:latin typeface="Calibri" panose="020F0502020204030204"/>
              </a:rPr>
              <a:t>Optimistic: this is the set used while tuning.</a:t>
            </a:r>
            <a:endParaRPr sz="1300" b="0" i="0">
              <a:solidFill>
                <a:srgbClr val="0F1B2D"/>
              </a:solidFill>
              <a:latin typeface="Calibri" panose="020F0502020204030204"/>
            </a:endParaRPr>
          </a:p>
        </p:txBody>
      </p:sp>
      <p:sp>
        <p:nvSpPr>
          <p:cNvPr id="9" name="Rounded Rectangle 8"/>
          <p:cNvSpPr/>
          <p:nvPr/>
        </p:nvSpPr>
        <p:spPr>
          <a:xfrm>
            <a:off x="8046719" y="1691640"/>
            <a:ext cx="3611880" cy="1920240"/>
          </a:xfrm>
          <a:prstGeom prst="roundRect">
            <a:avLst>
              <a:gd name="adj" fmla="val 50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t"/>
          <a:lstStyle/>
          <a:p>
            <a:pPr algn="l">
              <a:spcAft>
                <a:spcPts val="0"/>
              </a:spcAft>
            </a:pPr>
            <a:r>
              <a:rPr sz="4000" b="1" i="0">
                <a:solidFill>
                  <a:srgbClr val="7C3AED"/>
                </a:solidFill>
                <a:latin typeface="Calibri" panose="020F0502020204030204"/>
              </a:rPr>
              <a:t>30 / 30</a:t>
            </a:r>
            <a:endParaRPr sz="4000" b="1" i="0">
              <a:solidFill>
                <a:srgbClr val="7C3AED"/>
              </a:solidFill>
              <a:latin typeface="Calibri" panose="020F0502020204030204"/>
            </a:endParaRPr>
          </a:p>
          <a:p>
            <a:pPr algn="l">
              <a:spcAft>
                <a:spcPts val="400"/>
              </a:spcAft>
            </a:pPr>
            <a:r>
              <a:rPr sz="1600" b="1" i="0">
                <a:solidFill>
                  <a:srgbClr val="0A1730"/>
                </a:solidFill>
                <a:latin typeface="Calibri" panose="020F0502020204030204"/>
              </a:rPr>
              <a:t>Red-team attacks (100%)</a:t>
            </a:r>
            <a:endParaRPr sz="1600" b="1" i="0">
              <a:solidFill>
                <a:srgbClr val="0A1730"/>
              </a:solidFill>
              <a:latin typeface="Calibri" panose="020F0502020204030204"/>
            </a:endParaRPr>
          </a:p>
          <a:p>
            <a:pPr algn="l">
              <a:spcAft>
                <a:spcPts val="200"/>
              </a:spcAft>
            </a:pPr>
            <a:r>
              <a:rPr sz="1300" b="0" i="0">
                <a:solidFill>
                  <a:srgbClr val="0F1B2D"/>
                </a:solidFill>
                <a:latin typeface="Calibri" panose="020F0502020204030204"/>
              </a:rPr>
              <a:t>Nothing leaked, nothing written. 95% interval 89% to 100%.</a:t>
            </a:r>
            <a:endParaRPr sz="1300" b="0" i="0">
              <a:solidFill>
                <a:srgbClr val="0F1B2D"/>
              </a:solidFill>
              <a:latin typeface="Calibri" panose="020F0502020204030204"/>
            </a:endParaRPr>
          </a:p>
        </p:txBody>
      </p:sp>
      <p:sp>
        <p:nvSpPr>
          <p:cNvPr id="10" name="TextBox 9"/>
          <p:cNvSpPr txBox="1"/>
          <p:nvPr/>
        </p:nvSpPr>
        <p:spPr>
          <a:xfrm>
            <a:off x="548640" y="3840480"/>
            <a:ext cx="11064240" cy="365760"/>
          </a:xfrm>
          <a:prstGeom prst="rect">
            <a:avLst/>
          </a:prstGeom>
          <a:noFill/>
        </p:spPr>
        <p:txBody>
          <a:bodyPr wrap="square" lIns="45720" tIns="27432" rIns="45720" bIns="27432" anchor="t">
            <a:spAutoFit/>
          </a:bodyPr>
          <a:lstStyle/>
          <a:p>
            <a:pPr algn="l">
              <a:spcAft>
                <a:spcPts val="600"/>
              </a:spcAft>
            </a:pPr>
            <a:r>
              <a:rPr sz="1700" b="1" i="0">
                <a:solidFill>
                  <a:srgbClr val="0A1730"/>
                </a:solidFill>
                <a:latin typeface="Calibri" panose="020F0502020204030204"/>
              </a:rPr>
              <a:t>Checked by code, not by a model judge</a:t>
            </a:r>
            <a:endParaRPr sz="1700" b="1" i="0">
              <a:solidFill>
                <a:srgbClr val="0A1730"/>
              </a:solidFill>
              <a:latin typeface="Calibri" panose="020F0502020204030204"/>
            </a:endParaRPr>
          </a:p>
        </p:txBody>
      </p:sp>
      <p:sp>
        <p:nvSpPr>
          <p:cNvPr id="11" name="TextBox 10"/>
          <p:cNvSpPr txBox="1"/>
          <p:nvPr/>
        </p:nvSpPr>
        <p:spPr>
          <a:xfrm>
            <a:off x="548640" y="4251960"/>
            <a:ext cx="5486400" cy="1188720"/>
          </a:xfrm>
          <a:prstGeom prst="rect">
            <a:avLst/>
          </a:prstGeom>
          <a:noFill/>
        </p:spPr>
        <p:txBody>
          <a:bodyPr wrap="square" lIns="45720" tIns="27432" rIns="45720" bIns="27432" anchor="t">
            <a:spAutoFit/>
          </a:bodyPr>
          <a:lstStyle/>
          <a:p>
            <a:pPr marL="247015" indent="-247015" algn="l">
              <a:spcAft>
                <a:spcPts val="600"/>
              </a:spcAft>
              <a:buChar char="•"/>
            </a:pPr>
            <a:r>
              <a:rPr sz="1450" b="0" i="0">
                <a:solidFill>
                  <a:srgbClr val="0F1B2D"/>
                </a:solidFill>
                <a:latin typeface="Calibri" panose="020F0502020204030204"/>
              </a:rPr>
              <a:t>Numbers match the database oracle: 58/58 development, 12/12 held-out</a:t>
            </a:r>
            <a:endParaRPr sz="1450" b="0" i="0">
              <a:solidFill>
                <a:srgbClr val="0F1B2D"/>
              </a:solidFill>
              <a:latin typeface="Calibri" panose="020F0502020204030204"/>
            </a:endParaRPr>
          </a:p>
          <a:p>
            <a:pPr marL="247015" indent="-247015" algn="l">
              <a:spcAft>
                <a:spcPts val="600"/>
              </a:spcAft>
              <a:buChar char="•"/>
            </a:pPr>
            <a:r>
              <a:rPr sz="1450" b="0" i="0">
                <a:solidFill>
                  <a:srgbClr val="0F1B2D"/>
                </a:solidFill>
                <a:latin typeface="Calibri" panose="020F0502020204030204"/>
              </a:rPr>
              <a:t>Cited sections were really retrieved: 58/58 and 14/14</a:t>
            </a:r>
            <a:endParaRPr sz="1450" b="0" i="0">
              <a:solidFill>
                <a:srgbClr val="0F1B2D"/>
              </a:solidFill>
              <a:latin typeface="Calibri" panose="020F0502020204030204"/>
            </a:endParaRPr>
          </a:p>
        </p:txBody>
      </p:sp>
      <p:sp>
        <p:nvSpPr>
          <p:cNvPr id="12" name="TextBox 11"/>
          <p:cNvSpPr txBox="1"/>
          <p:nvPr/>
        </p:nvSpPr>
        <p:spPr>
          <a:xfrm>
            <a:off x="6217920" y="4251960"/>
            <a:ext cx="5486400" cy="1188720"/>
          </a:xfrm>
          <a:prstGeom prst="rect">
            <a:avLst/>
          </a:prstGeom>
          <a:noFill/>
        </p:spPr>
        <p:txBody>
          <a:bodyPr wrap="square" lIns="45720" tIns="27432" rIns="45720" bIns="27432" anchor="t">
            <a:spAutoFit/>
          </a:bodyPr>
          <a:lstStyle/>
          <a:p>
            <a:pPr marL="247015" indent="-247015" algn="l">
              <a:spcAft>
                <a:spcPts val="600"/>
              </a:spcAft>
              <a:buChar char="•"/>
            </a:pPr>
            <a:r>
              <a:rPr sz="1450" b="0" i="0">
                <a:solidFill>
                  <a:srgbClr val="0F1B2D"/>
                </a:solidFill>
                <a:latin typeface="Calibri" panose="020F0502020204030204"/>
              </a:rPr>
              <a:t>No other person's data in answers: 26/26 and 7/7</a:t>
            </a:r>
            <a:endParaRPr sz="1450" b="0" i="0">
              <a:solidFill>
                <a:srgbClr val="0F1B2D"/>
              </a:solidFill>
              <a:latin typeface="Calibri" panose="020F0502020204030204"/>
            </a:endParaRPr>
          </a:p>
          <a:p>
            <a:pPr marL="247015" indent="-247015" algn="l">
              <a:spcAft>
                <a:spcPts val="600"/>
              </a:spcAft>
              <a:buChar char="•"/>
            </a:pPr>
            <a:r>
              <a:rPr sz="1450" b="0" i="0">
                <a:solidFill>
                  <a:srgbClr val="0F1B2D"/>
                </a:solidFill>
                <a:latin typeface="Calibri" panose="020F0502020204030204"/>
              </a:rPr>
              <a:t>No unconfirmed write: 59/59 and 13/13 safety checks</a:t>
            </a:r>
            <a:endParaRPr sz="1450" b="0" i="0">
              <a:solidFill>
                <a:srgbClr val="0F1B2D"/>
              </a:solidFill>
              <a:latin typeface="Calibri" panose="020F0502020204030204"/>
            </a:endParaRPr>
          </a:p>
        </p:txBody>
      </p:sp>
      <p:sp>
        <p:nvSpPr>
          <p:cNvPr id="13" name="Rounded Rectangle 12"/>
          <p:cNvSpPr/>
          <p:nvPr/>
        </p:nvSpPr>
        <p:spPr>
          <a:xfrm>
            <a:off x="548640" y="5577840"/>
            <a:ext cx="11109960" cy="731520"/>
          </a:xfrm>
          <a:prstGeom prst="roundRect">
            <a:avLst>
              <a:gd name="adj" fmla="val 10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350" b="0" i="0">
                <a:solidFill>
                  <a:srgbClr val="0F1B2D"/>
                </a:solidFill>
                <a:latin typeface="Calibri" panose="020F0502020204030204"/>
              </a:rPr>
              <a:t>Read with care: the same team wrote the system and the tests, the samples are small, and the world is ten fictional employees. An independent review is on the roadmap.</a:t>
            </a:r>
            <a:endParaRPr sz="1350" b="0" i="0">
              <a:solidFill>
                <a:srgbClr val="0F1B2D"/>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Speed, and engineering quality</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15</a:t>
            </a:r>
            <a:endParaRPr sz="1050" b="0" i="0">
              <a:solidFill>
                <a:srgbClr val="556278"/>
              </a:solidFill>
              <a:latin typeface="Calibri" panose="020F0502020204030204"/>
            </a:endParaRPr>
          </a:p>
        </p:txBody>
      </p:sp>
      <p:sp>
        <p:nvSpPr>
          <p:cNvPr id="6" name="TextBox 5"/>
          <p:cNvSpPr txBox="1"/>
          <p:nvPr/>
        </p:nvSpPr>
        <p:spPr>
          <a:xfrm>
            <a:off x="548640" y="1554480"/>
            <a:ext cx="5943600" cy="365760"/>
          </a:xfrm>
          <a:prstGeom prst="rect">
            <a:avLst/>
          </a:prstGeom>
          <a:noFill/>
        </p:spPr>
        <p:txBody>
          <a:bodyPr wrap="square" lIns="45720" tIns="27432" rIns="45720" bIns="27432" anchor="t">
            <a:spAutoFit/>
          </a:bodyPr>
          <a:lstStyle/>
          <a:p>
            <a:pPr algn="l">
              <a:spcAft>
                <a:spcPts val="600"/>
              </a:spcAft>
            </a:pPr>
            <a:r>
              <a:rPr sz="1500" b="1" i="0">
                <a:solidFill>
                  <a:srgbClr val="0A1730"/>
                </a:solidFill>
                <a:latin typeface="Calibri" panose="020F0502020204030204"/>
              </a:rPr>
              <a:t>Median seconds to a complete, verified answer</a:t>
            </a:r>
            <a:endParaRPr sz="1500" b="1" i="0">
              <a:solidFill>
                <a:srgbClr val="0A1730"/>
              </a:solidFill>
              <a:latin typeface="Calibri" panose="020F0502020204030204"/>
            </a:endParaRPr>
          </a:p>
        </p:txBody>
      </p:sp>
      <p:sp>
        <p:nvSpPr>
          <p:cNvPr id="7" name="TextBox 6"/>
          <p:cNvSpPr txBox="1"/>
          <p:nvPr/>
        </p:nvSpPr>
        <p:spPr>
          <a:xfrm>
            <a:off x="548640" y="205740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Out of scope</a:t>
            </a:r>
            <a:endParaRPr sz="1400" b="0" i="0">
              <a:solidFill>
                <a:srgbClr val="0F1B2D"/>
              </a:solidFill>
              <a:latin typeface="Calibri" panose="020F0502020204030204"/>
            </a:endParaRPr>
          </a:p>
        </p:txBody>
      </p:sp>
      <p:sp>
        <p:nvSpPr>
          <p:cNvPr id="8" name="Rectangle 7"/>
          <p:cNvSpPr/>
          <p:nvPr/>
        </p:nvSpPr>
        <p:spPr>
          <a:xfrm>
            <a:off x="2240280" y="2093976"/>
            <a:ext cx="105156"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9" name="TextBox 8"/>
          <p:cNvSpPr txBox="1"/>
          <p:nvPr/>
        </p:nvSpPr>
        <p:spPr>
          <a:xfrm>
            <a:off x="2418588" y="2057400"/>
            <a:ext cx="914400" cy="365760"/>
          </a:xfrm>
          <a:prstGeom prst="rect">
            <a:avLst/>
          </a:prstGeom>
          <a:noFill/>
        </p:spPr>
        <p:txBody>
          <a:bodyPr wrap="square" lIns="45720" tIns="27432" rIns="45720" bIns="27432" anchor="t">
            <a:spAutoFit/>
          </a:bodyPr>
          <a:lstStyle/>
          <a:p>
            <a:pPr algn="l">
              <a:spcAft>
                <a:spcPts val="600"/>
              </a:spcAft>
            </a:pPr>
            <a:r>
              <a:rPr sz="1300" b="1" i="0">
                <a:solidFill>
                  <a:srgbClr val="2563EB"/>
                </a:solidFill>
                <a:latin typeface="Calibri" panose="020F0502020204030204"/>
              </a:rPr>
              <a:t>1 s</a:t>
            </a:r>
            <a:endParaRPr sz="1300" b="1" i="0">
              <a:solidFill>
                <a:srgbClr val="2563EB"/>
              </a:solidFill>
              <a:latin typeface="Calibri" panose="020F0502020204030204"/>
            </a:endParaRPr>
          </a:p>
        </p:txBody>
      </p:sp>
      <p:sp>
        <p:nvSpPr>
          <p:cNvPr id="10" name="TextBox 9"/>
          <p:cNvSpPr txBox="1"/>
          <p:nvPr/>
        </p:nvSpPr>
        <p:spPr>
          <a:xfrm>
            <a:off x="548640" y="260604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Personal data</a:t>
            </a:r>
            <a:endParaRPr sz="1400" b="0" i="0">
              <a:solidFill>
                <a:srgbClr val="0F1B2D"/>
              </a:solidFill>
              <a:latin typeface="Calibri" panose="020F0502020204030204"/>
            </a:endParaRPr>
          </a:p>
        </p:txBody>
      </p:sp>
      <p:sp>
        <p:nvSpPr>
          <p:cNvPr id="11" name="Rectangle 10"/>
          <p:cNvSpPr/>
          <p:nvPr/>
        </p:nvSpPr>
        <p:spPr>
          <a:xfrm>
            <a:off x="2240280" y="2642616"/>
            <a:ext cx="431139"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2" name="TextBox 11"/>
          <p:cNvSpPr txBox="1"/>
          <p:nvPr/>
        </p:nvSpPr>
        <p:spPr>
          <a:xfrm>
            <a:off x="2744571" y="2606040"/>
            <a:ext cx="914400" cy="365760"/>
          </a:xfrm>
          <a:prstGeom prst="rect">
            <a:avLst/>
          </a:prstGeom>
          <a:noFill/>
        </p:spPr>
        <p:txBody>
          <a:bodyPr wrap="square" lIns="45720" tIns="27432" rIns="45720" bIns="27432" anchor="t">
            <a:spAutoFit/>
          </a:bodyPr>
          <a:lstStyle/>
          <a:p>
            <a:pPr algn="l">
              <a:spcAft>
                <a:spcPts val="600"/>
              </a:spcAft>
            </a:pPr>
            <a:r>
              <a:rPr sz="1300" b="1" i="0">
                <a:solidFill>
                  <a:srgbClr val="2563EB"/>
                </a:solidFill>
                <a:latin typeface="Calibri" panose="020F0502020204030204"/>
              </a:rPr>
              <a:t>4.1 s</a:t>
            </a:r>
            <a:endParaRPr sz="1300" b="1" i="0">
              <a:solidFill>
                <a:srgbClr val="2563EB"/>
              </a:solidFill>
              <a:latin typeface="Calibri" panose="020F0502020204030204"/>
            </a:endParaRPr>
          </a:p>
        </p:txBody>
      </p:sp>
      <p:sp>
        <p:nvSpPr>
          <p:cNvPr id="13" name="TextBox 12"/>
          <p:cNvSpPr txBox="1"/>
          <p:nvPr/>
        </p:nvSpPr>
        <p:spPr>
          <a:xfrm>
            <a:off x="548640" y="315468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Manager</a:t>
            </a:r>
            <a:endParaRPr sz="1400" b="0" i="0">
              <a:solidFill>
                <a:srgbClr val="0F1B2D"/>
              </a:solidFill>
              <a:latin typeface="Calibri" panose="020F0502020204030204"/>
            </a:endParaRPr>
          </a:p>
        </p:txBody>
      </p:sp>
      <p:sp>
        <p:nvSpPr>
          <p:cNvPr id="14" name="Rectangle 13"/>
          <p:cNvSpPr/>
          <p:nvPr/>
        </p:nvSpPr>
        <p:spPr>
          <a:xfrm>
            <a:off x="2240280" y="3191256"/>
            <a:ext cx="494233"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 name="TextBox 14"/>
          <p:cNvSpPr txBox="1"/>
          <p:nvPr/>
        </p:nvSpPr>
        <p:spPr>
          <a:xfrm>
            <a:off x="2807665" y="3154680"/>
            <a:ext cx="914400" cy="365760"/>
          </a:xfrm>
          <a:prstGeom prst="rect">
            <a:avLst/>
          </a:prstGeom>
          <a:noFill/>
        </p:spPr>
        <p:txBody>
          <a:bodyPr wrap="square" lIns="45720" tIns="27432" rIns="45720" bIns="27432" anchor="t">
            <a:spAutoFit/>
          </a:bodyPr>
          <a:lstStyle/>
          <a:p>
            <a:pPr algn="l">
              <a:spcAft>
                <a:spcPts val="600"/>
              </a:spcAft>
            </a:pPr>
            <a:r>
              <a:rPr sz="1300" b="1" i="0">
                <a:solidFill>
                  <a:srgbClr val="2563EB"/>
                </a:solidFill>
                <a:latin typeface="Calibri" panose="020F0502020204030204"/>
              </a:rPr>
              <a:t>4.7 s</a:t>
            </a:r>
            <a:endParaRPr sz="1300" b="1" i="0">
              <a:solidFill>
                <a:srgbClr val="2563EB"/>
              </a:solidFill>
              <a:latin typeface="Calibri" panose="020F0502020204030204"/>
            </a:endParaRPr>
          </a:p>
        </p:txBody>
      </p:sp>
      <p:sp>
        <p:nvSpPr>
          <p:cNvPr id="16" name="TextBox 15"/>
          <p:cNvSpPr txBox="1"/>
          <p:nvPr/>
        </p:nvSpPr>
        <p:spPr>
          <a:xfrm>
            <a:off x="548640" y="370332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Calculation</a:t>
            </a:r>
            <a:endParaRPr sz="1400" b="0" i="0">
              <a:solidFill>
                <a:srgbClr val="0F1B2D"/>
              </a:solidFill>
              <a:latin typeface="Calibri" panose="020F0502020204030204"/>
            </a:endParaRPr>
          </a:p>
        </p:txBody>
      </p:sp>
      <p:sp>
        <p:nvSpPr>
          <p:cNvPr id="17" name="Rectangle 16"/>
          <p:cNvSpPr/>
          <p:nvPr/>
        </p:nvSpPr>
        <p:spPr>
          <a:xfrm>
            <a:off x="2240280" y="3739896"/>
            <a:ext cx="578358"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 name="TextBox 17"/>
          <p:cNvSpPr txBox="1"/>
          <p:nvPr/>
        </p:nvSpPr>
        <p:spPr>
          <a:xfrm>
            <a:off x="2891790" y="3703320"/>
            <a:ext cx="914400" cy="365760"/>
          </a:xfrm>
          <a:prstGeom prst="rect">
            <a:avLst/>
          </a:prstGeom>
          <a:noFill/>
        </p:spPr>
        <p:txBody>
          <a:bodyPr wrap="square" lIns="45720" tIns="27432" rIns="45720" bIns="27432" anchor="t">
            <a:spAutoFit/>
          </a:bodyPr>
          <a:lstStyle/>
          <a:p>
            <a:pPr algn="l">
              <a:spcAft>
                <a:spcPts val="600"/>
              </a:spcAft>
            </a:pPr>
            <a:r>
              <a:rPr sz="1300" b="1" i="0">
                <a:solidFill>
                  <a:srgbClr val="2563EB"/>
                </a:solidFill>
                <a:latin typeface="Calibri" panose="020F0502020204030204"/>
              </a:rPr>
              <a:t>5.5 s</a:t>
            </a:r>
            <a:endParaRPr sz="1300" b="1" i="0">
              <a:solidFill>
                <a:srgbClr val="2563EB"/>
              </a:solidFill>
              <a:latin typeface="Calibri" panose="020F0502020204030204"/>
            </a:endParaRPr>
          </a:p>
        </p:txBody>
      </p:sp>
      <p:sp>
        <p:nvSpPr>
          <p:cNvPr id="19" name="TextBox 18"/>
          <p:cNvSpPr txBox="1"/>
          <p:nvPr/>
        </p:nvSpPr>
        <p:spPr>
          <a:xfrm>
            <a:off x="548640" y="425196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Policy</a:t>
            </a:r>
            <a:endParaRPr sz="1400" b="0" i="0">
              <a:solidFill>
                <a:srgbClr val="0F1B2D"/>
              </a:solidFill>
              <a:latin typeface="Calibri" panose="020F0502020204030204"/>
            </a:endParaRPr>
          </a:p>
        </p:txBody>
      </p:sp>
      <p:sp>
        <p:nvSpPr>
          <p:cNvPr id="20" name="Rectangle 19"/>
          <p:cNvSpPr/>
          <p:nvPr/>
        </p:nvSpPr>
        <p:spPr>
          <a:xfrm>
            <a:off x="2240280" y="4288536"/>
            <a:ext cx="599389"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1" name="TextBox 20"/>
          <p:cNvSpPr txBox="1"/>
          <p:nvPr/>
        </p:nvSpPr>
        <p:spPr>
          <a:xfrm>
            <a:off x="2912821" y="4251960"/>
            <a:ext cx="914400" cy="365760"/>
          </a:xfrm>
          <a:prstGeom prst="rect">
            <a:avLst/>
          </a:prstGeom>
          <a:noFill/>
        </p:spPr>
        <p:txBody>
          <a:bodyPr wrap="square" lIns="45720" tIns="27432" rIns="45720" bIns="27432" anchor="t">
            <a:spAutoFit/>
          </a:bodyPr>
          <a:lstStyle/>
          <a:p>
            <a:pPr algn="l">
              <a:spcAft>
                <a:spcPts val="600"/>
              </a:spcAft>
            </a:pPr>
            <a:r>
              <a:rPr sz="1300" b="1" i="0">
                <a:solidFill>
                  <a:srgbClr val="2563EB"/>
                </a:solidFill>
                <a:latin typeface="Calibri" panose="020F0502020204030204"/>
              </a:rPr>
              <a:t>5.7 s</a:t>
            </a:r>
            <a:endParaRPr sz="1300" b="1" i="0">
              <a:solidFill>
                <a:srgbClr val="2563EB"/>
              </a:solidFill>
              <a:latin typeface="Calibri" panose="020F0502020204030204"/>
            </a:endParaRPr>
          </a:p>
        </p:txBody>
      </p:sp>
      <p:sp>
        <p:nvSpPr>
          <p:cNvPr id="22" name="TextBox 21"/>
          <p:cNvSpPr txBox="1"/>
          <p:nvPr/>
        </p:nvSpPr>
        <p:spPr>
          <a:xfrm>
            <a:off x="548640" y="480060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Leave workflow</a:t>
            </a:r>
            <a:endParaRPr sz="1400" b="0" i="0">
              <a:solidFill>
                <a:srgbClr val="0F1B2D"/>
              </a:solidFill>
              <a:latin typeface="Calibri" panose="020F0502020204030204"/>
            </a:endParaRPr>
          </a:p>
        </p:txBody>
      </p:sp>
      <p:sp>
        <p:nvSpPr>
          <p:cNvPr id="23" name="Rectangle 22"/>
          <p:cNvSpPr/>
          <p:nvPr/>
        </p:nvSpPr>
        <p:spPr>
          <a:xfrm>
            <a:off x="2240280" y="4837176"/>
            <a:ext cx="672998"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4" name="TextBox 23"/>
          <p:cNvSpPr txBox="1"/>
          <p:nvPr/>
        </p:nvSpPr>
        <p:spPr>
          <a:xfrm>
            <a:off x="2986430" y="4800600"/>
            <a:ext cx="914400" cy="365760"/>
          </a:xfrm>
          <a:prstGeom prst="rect">
            <a:avLst/>
          </a:prstGeom>
          <a:noFill/>
        </p:spPr>
        <p:txBody>
          <a:bodyPr wrap="square" lIns="45720" tIns="27432" rIns="45720" bIns="27432" anchor="t">
            <a:spAutoFit/>
          </a:bodyPr>
          <a:lstStyle/>
          <a:p>
            <a:pPr algn="l">
              <a:spcAft>
                <a:spcPts val="600"/>
              </a:spcAft>
            </a:pPr>
            <a:r>
              <a:rPr sz="1300" b="1" i="0">
                <a:solidFill>
                  <a:srgbClr val="2563EB"/>
                </a:solidFill>
                <a:latin typeface="Calibri" panose="020F0502020204030204"/>
              </a:rPr>
              <a:t>6.4 s</a:t>
            </a:r>
            <a:endParaRPr sz="1300" b="1" i="0">
              <a:solidFill>
                <a:srgbClr val="2563EB"/>
              </a:solidFill>
              <a:latin typeface="Calibri" panose="020F0502020204030204"/>
            </a:endParaRPr>
          </a:p>
        </p:txBody>
      </p:sp>
      <p:sp>
        <p:nvSpPr>
          <p:cNvPr id="25" name="TextBox 24"/>
          <p:cNvSpPr txBox="1"/>
          <p:nvPr/>
        </p:nvSpPr>
        <p:spPr>
          <a:xfrm>
            <a:off x="548640" y="5349240"/>
            <a:ext cx="1645920" cy="365760"/>
          </a:xfrm>
          <a:prstGeom prst="rect">
            <a:avLst/>
          </a:prstGeom>
          <a:noFill/>
        </p:spPr>
        <p:txBody>
          <a:bodyPr wrap="square" lIns="45720" tIns="27432" rIns="45720" bIns="27432" anchor="t">
            <a:spAutoFit/>
          </a:bodyPr>
          <a:lstStyle/>
          <a:p>
            <a:pPr algn="r">
              <a:spcAft>
                <a:spcPts val="600"/>
              </a:spcAft>
            </a:pPr>
            <a:r>
              <a:rPr sz="1400" b="0" i="0">
                <a:solidFill>
                  <a:srgbClr val="0F1B2D"/>
                </a:solidFill>
                <a:latin typeface="Calibri" panose="020F0502020204030204"/>
              </a:rPr>
              <a:t>Planning</a:t>
            </a:r>
            <a:endParaRPr sz="1400" b="0" i="0">
              <a:solidFill>
                <a:srgbClr val="0F1B2D"/>
              </a:solidFill>
              <a:latin typeface="Calibri" panose="020F0502020204030204"/>
            </a:endParaRPr>
          </a:p>
        </p:txBody>
      </p:sp>
      <p:sp>
        <p:nvSpPr>
          <p:cNvPr id="26" name="Rectangle 25"/>
          <p:cNvSpPr/>
          <p:nvPr/>
        </p:nvSpPr>
        <p:spPr>
          <a:xfrm>
            <a:off x="2240280" y="5385816"/>
            <a:ext cx="3386023"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7" name="TextBox 26"/>
          <p:cNvSpPr txBox="1"/>
          <p:nvPr/>
        </p:nvSpPr>
        <p:spPr>
          <a:xfrm>
            <a:off x="5699455" y="5349240"/>
            <a:ext cx="914400" cy="365760"/>
          </a:xfrm>
          <a:prstGeom prst="rect">
            <a:avLst/>
          </a:prstGeom>
          <a:noFill/>
        </p:spPr>
        <p:txBody>
          <a:bodyPr wrap="square" lIns="45720" tIns="27432" rIns="45720" bIns="27432" anchor="t">
            <a:spAutoFit/>
          </a:bodyPr>
          <a:lstStyle/>
          <a:p>
            <a:pPr algn="l">
              <a:spcAft>
                <a:spcPts val="600"/>
              </a:spcAft>
            </a:pPr>
            <a:r>
              <a:rPr sz="1300" b="1" i="0">
                <a:solidFill>
                  <a:srgbClr val="7C3AED"/>
                </a:solidFill>
                <a:latin typeface="Calibri" panose="020F0502020204030204"/>
              </a:rPr>
              <a:t>32.2 s</a:t>
            </a:r>
            <a:endParaRPr sz="1300" b="1" i="0">
              <a:solidFill>
                <a:srgbClr val="7C3AED"/>
              </a:solidFill>
              <a:latin typeface="Calibri" panose="020F0502020204030204"/>
            </a:endParaRPr>
          </a:p>
        </p:txBody>
      </p:sp>
      <p:cxnSp>
        <p:nvCxnSpPr>
          <p:cNvPr id="28" name="Connector 27"/>
          <p:cNvCxnSpPr/>
          <p:nvPr/>
        </p:nvCxnSpPr>
        <p:spPr>
          <a:xfrm>
            <a:off x="5394960" y="2011680"/>
            <a:ext cx="0" cy="3886200"/>
          </a:xfrm>
          <a:prstGeom prst="line">
            <a:avLst/>
          </a:prstGeom>
          <a:ln w="19050">
            <a:solidFill>
              <a:srgbClr val="B3261E"/>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709160" y="5897880"/>
            <a:ext cx="1371600" cy="320040"/>
          </a:xfrm>
          <a:prstGeom prst="rect">
            <a:avLst/>
          </a:prstGeom>
          <a:noFill/>
        </p:spPr>
        <p:txBody>
          <a:bodyPr wrap="square" lIns="45720" tIns="27432" rIns="45720" bIns="27432" anchor="t">
            <a:spAutoFit/>
          </a:bodyPr>
          <a:lstStyle/>
          <a:p>
            <a:pPr algn="ctr">
              <a:spcAft>
                <a:spcPts val="600"/>
              </a:spcAft>
            </a:pPr>
            <a:r>
              <a:rPr sz="1200" b="0" i="0">
                <a:solidFill>
                  <a:srgbClr val="B3261E"/>
                </a:solidFill>
                <a:latin typeface="Calibri" panose="020F0502020204030204"/>
              </a:rPr>
              <a:t>30 s target</a:t>
            </a:r>
            <a:endParaRPr sz="1200" b="0" i="0">
              <a:solidFill>
                <a:srgbClr val="B3261E"/>
              </a:solidFill>
              <a:latin typeface="Calibri" panose="020F0502020204030204"/>
            </a:endParaRPr>
          </a:p>
        </p:txBody>
      </p:sp>
      <p:sp>
        <p:nvSpPr>
          <p:cNvPr id="30" name="TextBox 29"/>
          <p:cNvSpPr txBox="1"/>
          <p:nvPr/>
        </p:nvSpPr>
        <p:spPr>
          <a:xfrm>
            <a:off x="548640" y="5989320"/>
            <a:ext cx="5943600" cy="411480"/>
          </a:xfrm>
          <a:prstGeom prst="rect">
            <a:avLst/>
          </a:prstGeom>
          <a:noFill/>
        </p:spPr>
        <p:txBody>
          <a:bodyPr wrap="square" lIns="45720" tIns="27432" rIns="45720" bIns="27432" anchor="t">
            <a:spAutoFit/>
          </a:bodyPr>
          <a:lstStyle/>
          <a:p>
            <a:pPr algn="l">
              <a:spcAft>
                <a:spcPts val="600"/>
              </a:spcAft>
            </a:pPr>
            <a:r>
              <a:rPr sz="1250" b="0" i="0">
                <a:solidFill>
                  <a:srgbClr val="556278"/>
                </a:solidFill>
                <a:latin typeface="Calibri" panose="020F0502020204030204"/>
              </a:rPr>
              <a:t>Planning: median 32 s, 95th percentile 51 s. The target is missed.</a:t>
            </a:r>
            <a:endParaRPr sz="1250" b="0" i="0">
              <a:solidFill>
                <a:srgbClr val="556278"/>
              </a:solidFill>
              <a:latin typeface="Calibri" panose="020F0502020204030204"/>
            </a:endParaRPr>
          </a:p>
        </p:txBody>
      </p:sp>
      <p:sp>
        <p:nvSpPr>
          <p:cNvPr id="31" name="Rounded Rectangle 30"/>
          <p:cNvSpPr/>
          <p:nvPr/>
        </p:nvSpPr>
        <p:spPr>
          <a:xfrm>
            <a:off x="6858000" y="1600200"/>
            <a:ext cx="4800600" cy="4572000"/>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2" name="Rectangle 31"/>
          <p:cNvSpPr/>
          <p:nvPr/>
        </p:nvSpPr>
        <p:spPr>
          <a:xfrm>
            <a:off x="6858000" y="1600200"/>
            <a:ext cx="82296" cy="4572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3" name="TextBox 32"/>
          <p:cNvSpPr txBox="1"/>
          <p:nvPr/>
        </p:nvSpPr>
        <p:spPr>
          <a:xfrm>
            <a:off x="7086600" y="1737360"/>
            <a:ext cx="4434840" cy="457200"/>
          </a:xfrm>
          <a:prstGeom prst="rect">
            <a:avLst/>
          </a:prstGeom>
          <a:noFill/>
        </p:spPr>
        <p:txBody>
          <a:bodyPr wrap="square" lIns="45720" tIns="27432" rIns="45720" bIns="27432" anchor="t">
            <a:spAutoFit/>
          </a:bodyPr>
          <a:lstStyle/>
          <a:p>
            <a:pPr algn="l">
              <a:spcAft>
                <a:spcPts val="600"/>
              </a:spcAft>
            </a:pPr>
            <a:r>
              <a:rPr sz="1700" b="1" i="0">
                <a:solidFill>
                  <a:srgbClr val="0D9488"/>
                </a:solidFill>
                <a:latin typeface="Calibri" panose="020F0502020204030204"/>
              </a:rPr>
              <a:t>Engineering quality</a:t>
            </a:r>
            <a:endParaRPr sz="1700" b="1" i="0">
              <a:solidFill>
                <a:srgbClr val="0D9488"/>
              </a:solidFill>
              <a:latin typeface="Calibri" panose="020F0502020204030204"/>
            </a:endParaRPr>
          </a:p>
        </p:txBody>
      </p:sp>
      <p:sp>
        <p:nvSpPr>
          <p:cNvPr id="34" name="TextBox 33"/>
          <p:cNvSpPr txBox="1"/>
          <p:nvPr/>
        </p:nvSpPr>
        <p:spPr>
          <a:xfrm>
            <a:off x="7086600" y="2240280"/>
            <a:ext cx="4389120" cy="3840480"/>
          </a:xfrm>
          <a:prstGeom prst="rect">
            <a:avLst/>
          </a:prstGeom>
          <a:noFill/>
        </p:spPr>
        <p:txBody>
          <a:bodyPr wrap="square" lIns="45720" tIns="27432" rIns="45720" bIns="27432" anchor="t">
            <a:spAutoFit/>
          </a:bodyPr>
          <a:lstStyle/>
          <a:p>
            <a:pPr marL="247015" indent="-247015" algn="l">
              <a:spcAft>
                <a:spcPts val="700"/>
              </a:spcAft>
              <a:buChar char="•"/>
            </a:pPr>
            <a:r>
              <a:rPr sz="1500" b="0" i="0">
                <a:solidFill>
                  <a:srgbClr val="0F1B2D"/>
                </a:solidFill>
                <a:latin typeface="Calibri" panose="020F0502020204030204"/>
              </a:rPr>
              <a:t>448 automated tests, all passing; linter clean</a:t>
            </a:r>
            <a:endParaRPr sz="1500" b="0" i="0">
              <a:solidFill>
                <a:srgbClr val="0F1B2D"/>
              </a:solidFill>
              <a:latin typeface="Calibri" panose="020F0502020204030204"/>
            </a:endParaRPr>
          </a:p>
          <a:p>
            <a:pPr marL="247015" indent="-247015" algn="l">
              <a:spcAft>
                <a:spcPts val="700"/>
              </a:spcAft>
              <a:buChar char="•"/>
            </a:pPr>
            <a:r>
              <a:rPr sz="1500" b="0" i="0">
                <a:solidFill>
                  <a:srgbClr val="0F1B2D"/>
                </a:solidFill>
                <a:latin typeface="Calibri" panose="020F0502020204030204"/>
              </a:rPr>
              <a:t>Real-browser tests of the UI, including phone width</a:t>
            </a:r>
            <a:endParaRPr sz="1500" b="0" i="0">
              <a:solidFill>
                <a:srgbClr val="0F1B2D"/>
              </a:solidFill>
              <a:latin typeface="Calibri" panose="020F0502020204030204"/>
            </a:endParaRPr>
          </a:p>
          <a:p>
            <a:pPr marL="247015" indent="-247015" algn="l">
              <a:spcAft>
                <a:spcPts val="700"/>
              </a:spcAft>
              <a:buChar char="•"/>
            </a:pPr>
            <a:r>
              <a:rPr sz="1500" b="0" i="0">
                <a:solidFill>
                  <a:srgbClr val="0F1B2D"/>
                </a:solidFill>
                <a:latin typeface="Calibri" panose="020F0502020204030204"/>
              </a:rPr>
              <a:t>CI on GitHub: first run passed</a:t>
            </a:r>
            <a:endParaRPr sz="1500" b="0" i="0">
              <a:solidFill>
                <a:srgbClr val="0F1B2D"/>
              </a:solidFill>
              <a:latin typeface="Calibri" panose="020F0502020204030204"/>
            </a:endParaRPr>
          </a:p>
          <a:p>
            <a:pPr marL="247015" indent="-247015" algn="l">
              <a:spcAft>
                <a:spcPts val="700"/>
              </a:spcAft>
              <a:buChar char="•"/>
            </a:pPr>
            <a:r>
              <a:rPr sz="1500" b="0" i="0">
                <a:solidFill>
                  <a:srgbClr val="0F1B2D"/>
                </a:solidFill>
                <a:latin typeface="Calibri" panose="020F0502020204030204"/>
              </a:rPr>
              <a:t>Docker image with a smoke test; pinned dependency lock</a:t>
            </a:r>
            <a:endParaRPr sz="1500" b="0" i="0">
              <a:solidFill>
                <a:srgbClr val="0F1B2D"/>
              </a:solidFill>
              <a:latin typeface="Calibri" panose="020F0502020204030204"/>
            </a:endParaRPr>
          </a:p>
          <a:p>
            <a:pPr marL="247015" indent="-247015" algn="l">
              <a:spcAft>
                <a:spcPts val="700"/>
              </a:spcAft>
              <a:buChar char="•"/>
            </a:pPr>
            <a:r>
              <a:rPr sz="1500" b="0" i="0">
                <a:solidFill>
                  <a:srgbClr val="0F1B2D"/>
                </a:solidFill>
                <a:latin typeface="Calibri" panose="020F0502020204030204"/>
              </a:rPr>
              <a:t>Strict content-security policy: no inline scripts or styles</a:t>
            </a:r>
            <a:endParaRPr sz="1500" b="0" i="0">
              <a:solidFill>
                <a:srgbClr val="0F1B2D"/>
              </a:solidFill>
              <a:latin typeface="Calibri" panose="020F0502020204030204"/>
            </a:endParaRPr>
          </a:p>
          <a:p>
            <a:pPr marL="247015" indent="-247015" algn="l">
              <a:spcAft>
                <a:spcPts val="700"/>
              </a:spcAft>
              <a:buChar char="•"/>
            </a:pPr>
            <a:r>
              <a:rPr sz="1500" b="0" i="0">
                <a:solidFill>
                  <a:srgbClr val="0F1B2D"/>
                </a:solidFill>
                <a:latin typeface="Calibri" panose="020F0502020204030204"/>
              </a:rPr>
              <a:t>An audit log row for every tool call, even refused ones</a:t>
            </a:r>
            <a:endParaRPr sz="1500" b="0" i="0">
              <a:solidFill>
                <a:srgbClr val="0F1B2D"/>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What we know is weak, and what comes next</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16</a:t>
            </a:r>
            <a:endParaRPr sz="1050" b="0" i="0">
              <a:solidFill>
                <a:srgbClr val="556278"/>
              </a:solidFill>
              <a:latin typeface="Calibri" panose="020F0502020204030204"/>
            </a:endParaRPr>
          </a:p>
        </p:txBody>
      </p:sp>
      <p:sp>
        <p:nvSpPr>
          <p:cNvPr id="6" name="Rounded Rectangle 5"/>
          <p:cNvSpPr/>
          <p:nvPr/>
        </p:nvSpPr>
        <p:spPr>
          <a:xfrm>
            <a:off x="548640" y="1645920"/>
            <a:ext cx="5486400" cy="3977639"/>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 name="Rectangle 6"/>
          <p:cNvSpPr/>
          <p:nvPr/>
        </p:nvSpPr>
        <p:spPr>
          <a:xfrm>
            <a:off x="548640" y="1645920"/>
            <a:ext cx="82296"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 name="TextBox 7"/>
          <p:cNvSpPr txBox="1"/>
          <p:nvPr/>
        </p:nvSpPr>
        <p:spPr>
          <a:xfrm>
            <a:off x="777240" y="1783080"/>
            <a:ext cx="5120640" cy="457200"/>
          </a:xfrm>
          <a:prstGeom prst="rect">
            <a:avLst/>
          </a:prstGeom>
          <a:noFill/>
        </p:spPr>
        <p:txBody>
          <a:bodyPr wrap="square" lIns="45720" tIns="27432" rIns="45720" bIns="27432" anchor="t">
            <a:spAutoFit/>
          </a:bodyPr>
          <a:lstStyle/>
          <a:p>
            <a:pPr algn="l">
              <a:spcAft>
                <a:spcPts val="600"/>
              </a:spcAft>
            </a:pPr>
            <a:r>
              <a:rPr sz="1700" b="1" i="0">
                <a:solidFill>
                  <a:srgbClr val="B3261E"/>
                </a:solidFill>
                <a:latin typeface="Calibri" panose="020F0502020204030204"/>
              </a:rPr>
              <a:t>Known limits</a:t>
            </a:r>
            <a:endParaRPr sz="1700" b="1" i="0">
              <a:solidFill>
                <a:srgbClr val="B3261E"/>
              </a:solidFill>
              <a:latin typeface="Calibri" panose="020F0502020204030204"/>
            </a:endParaRPr>
          </a:p>
        </p:txBody>
      </p:sp>
      <p:sp>
        <p:nvSpPr>
          <p:cNvPr id="9" name="TextBox 8"/>
          <p:cNvSpPr txBox="1"/>
          <p:nvPr/>
        </p:nvSpPr>
        <p:spPr>
          <a:xfrm>
            <a:off x="777240" y="2286000"/>
            <a:ext cx="5074920" cy="3246120"/>
          </a:xfrm>
          <a:prstGeom prst="rect">
            <a:avLst/>
          </a:prstGeom>
          <a:noFill/>
        </p:spPr>
        <p:txBody>
          <a:bodyPr wrap="square" lIns="45720" tIns="27432" rIns="45720" bIns="27432" anchor="t">
            <a:spAutoFit/>
          </a:bodyPr>
          <a:lstStyle/>
          <a:p>
            <a:pPr marL="247015" indent="-247015" algn="l">
              <a:spcAft>
                <a:spcPts val="700"/>
              </a:spcAft>
              <a:buChar char="•"/>
            </a:pPr>
            <a:r>
              <a:rPr sz="1450" b="0" i="0">
                <a:solidFill>
                  <a:srgbClr val="0F1B2D"/>
                </a:solidFill>
                <a:latin typeface="Calibri" panose="020F0502020204030204"/>
              </a:rPr>
              <a:t>Planning latency: median 32 s against a 30 s target</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Tested on ten fictional employees and about 50 sample policy sections</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Evaluation written by the same team; independent review pending</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Numbers written as words are not verified</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No load test; rate limits are in memory, per process</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Observability is a trace id and an audit log; no tracing yet</a:t>
            </a:r>
            <a:endParaRPr sz="1450" b="0" i="0">
              <a:solidFill>
                <a:srgbClr val="0F1B2D"/>
              </a:solidFill>
              <a:latin typeface="Calibri" panose="020F0502020204030204"/>
            </a:endParaRPr>
          </a:p>
        </p:txBody>
      </p:sp>
      <p:sp>
        <p:nvSpPr>
          <p:cNvPr id="10" name="Rounded Rectangle 9"/>
          <p:cNvSpPr/>
          <p:nvPr/>
        </p:nvSpPr>
        <p:spPr>
          <a:xfrm>
            <a:off x="6217920" y="1645920"/>
            <a:ext cx="5440680" cy="3977639"/>
          </a:xfrm>
          <a:prstGeom prst="roundRect">
            <a:avLst>
              <a:gd name="adj" fmla="val 4000"/>
            </a:avLst>
          </a:prstGeom>
          <a:solidFill>
            <a:srgbClr val="FFFFFF"/>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 name="Rectangle 10"/>
          <p:cNvSpPr/>
          <p:nvPr/>
        </p:nvSpPr>
        <p:spPr>
          <a:xfrm>
            <a:off x="6217920" y="1645920"/>
            <a:ext cx="82296" cy="3977639"/>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2" name="TextBox 11"/>
          <p:cNvSpPr txBox="1"/>
          <p:nvPr/>
        </p:nvSpPr>
        <p:spPr>
          <a:xfrm>
            <a:off x="6446520" y="1783080"/>
            <a:ext cx="5074920" cy="457200"/>
          </a:xfrm>
          <a:prstGeom prst="rect">
            <a:avLst/>
          </a:prstGeom>
          <a:noFill/>
        </p:spPr>
        <p:txBody>
          <a:bodyPr wrap="square" lIns="45720" tIns="27432" rIns="45720" bIns="27432" anchor="t">
            <a:spAutoFit/>
          </a:bodyPr>
          <a:lstStyle/>
          <a:p>
            <a:pPr algn="l">
              <a:spcAft>
                <a:spcPts val="600"/>
              </a:spcAft>
            </a:pPr>
            <a:r>
              <a:rPr sz="1700" b="1" i="0">
                <a:solidFill>
                  <a:srgbClr val="0D9488"/>
                </a:solidFill>
                <a:latin typeface="Calibri" panose="020F0502020204030204"/>
              </a:rPr>
              <a:t>Next steps</a:t>
            </a:r>
            <a:endParaRPr sz="1700" b="1" i="0">
              <a:solidFill>
                <a:srgbClr val="0D9488"/>
              </a:solidFill>
              <a:latin typeface="Calibri" panose="020F0502020204030204"/>
            </a:endParaRPr>
          </a:p>
        </p:txBody>
      </p:sp>
      <p:sp>
        <p:nvSpPr>
          <p:cNvPr id="13" name="TextBox 12"/>
          <p:cNvSpPr txBox="1"/>
          <p:nvPr/>
        </p:nvSpPr>
        <p:spPr>
          <a:xfrm>
            <a:off x="6446520" y="2286000"/>
            <a:ext cx="5029200" cy="3246120"/>
          </a:xfrm>
          <a:prstGeom prst="rect">
            <a:avLst/>
          </a:prstGeom>
          <a:noFill/>
        </p:spPr>
        <p:txBody>
          <a:bodyPr wrap="square" lIns="45720" tIns="27432" rIns="45720" bIns="27432" anchor="t">
            <a:spAutoFit/>
          </a:bodyPr>
          <a:lstStyle/>
          <a:p>
            <a:pPr marL="247015" indent="-247015" algn="l">
              <a:spcAft>
                <a:spcPts val="700"/>
              </a:spcAft>
              <a:buChar char="•"/>
            </a:pPr>
            <a:r>
              <a:rPr sz="1450" b="0" i="0">
                <a:solidFill>
                  <a:srgbClr val="0F1B2D"/>
                </a:solidFill>
                <a:latin typeface="Calibri" panose="020F0502020204030204"/>
              </a:rPr>
              <a:t>Prompt caching and fewer model round trips for planning</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Retry with backoff on model calls</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Tracing and metrics</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Cancel a request through chat; longer-term memory</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Real policies, single sign-on and HTTPS</a:t>
            </a:r>
            <a:endParaRPr sz="1450" b="0" i="0">
              <a:solidFill>
                <a:srgbClr val="0F1B2D"/>
              </a:solidFill>
              <a:latin typeface="Calibri" panose="020F0502020204030204"/>
            </a:endParaRPr>
          </a:p>
          <a:p>
            <a:pPr marL="247015" indent="-247015" algn="l">
              <a:spcAft>
                <a:spcPts val="700"/>
              </a:spcAft>
              <a:buChar char="•"/>
            </a:pPr>
            <a:r>
              <a:rPr sz="1450" b="0" i="0">
                <a:solidFill>
                  <a:srgbClr val="0F1B2D"/>
                </a:solidFill>
                <a:latin typeface="Calibri" panose="020F0502020204030204"/>
              </a:rPr>
              <a:t>Router moves to Sonnet before Haiku 4.5 retires (no sooner than 2026-10-15)</a:t>
            </a:r>
            <a:endParaRPr sz="1450" b="0" i="0">
              <a:solidFill>
                <a:srgbClr val="0F1B2D"/>
              </a:solidFill>
              <a:latin typeface="Calibri" panose="020F0502020204030204"/>
            </a:endParaRPr>
          </a:p>
        </p:txBody>
      </p:sp>
      <p:sp>
        <p:nvSpPr>
          <p:cNvPr id="14" name="Rounded Rectangle 13"/>
          <p:cNvSpPr/>
          <p:nvPr/>
        </p:nvSpPr>
        <p:spPr>
          <a:xfrm>
            <a:off x="548640" y="5760720"/>
            <a:ext cx="11109960" cy="566928"/>
          </a:xfrm>
          <a:prstGeom prst="roundRect">
            <a:avLst>
              <a:gd name="adj" fmla="val 10000"/>
            </a:avLst>
          </a:prstGeom>
          <a:solidFill>
            <a:srgbClr val="0A173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2200" b="1" i="0">
                <a:solidFill>
                  <a:srgbClr val="FFFFFF"/>
                </a:solidFill>
                <a:latin typeface="Calibri" panose="020F0502020204030204"/>
              </a:rPr>
              <a:t>Built to be trusted first, fast second.</a:t>
            </a:r>
            <a:endParaRPr sz="2200" b="1" i="0">
              <a:solidFill>
                <a:srgbClr val="FFFFFF"/>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Appendix A: full architecture by layer</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17</a:t>
            </a:r>
            <a:endParaRPr sz="1050" b="0" i="0">
              <a:solidFill>
                <a:srgbClr val="556278"/>
              </a:solidFill>
              <a:latin typeface="Calibri" panose="020F0502020204030204"/>
            </a:endParaRPr>
          </a:p>
        </p:txBody>
      </p:sp>
      <p:pic>
        <p:nvPicPr>
          <p:cNvPr id="6" name="Picture 5" descr="architecture-full-zoned.png"/>
          <p:cNvPicPr>
            <a:picLocks noChangeAspect="1"/>
          </p:cNvPicPr>
          <p:nvPr/>
        </p:nvPicPr>
        <p:blipFill>
          <a:blip r:embed="rId1"/>
          <a:stretch>
            <a:fillRect/>
          </a:stretch>
        </p:blipFill>
        <p:spPr>
          <a:xfrm>
            <a:off x="2326935" y="1371600"/>
            <a:ext cx="7553369" cy="4937760"/>
          </a:xfrm>
          <a:prstGeom prst="rect">
            <a:avLst/>
          </a:prstGeom>
          <a:ln w="9525">
            <a:solidFill>
              <a:srgbClr val="D5DCE8"/>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548640" y="365760"/>
            <a:ext cx="64008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 name="TextBox 2"/>
          <p:cNvSpPr txBox="1"/>
          <p:nvPr/>
        </p:nvSpPr>
        <p:spPr>
          <a:xfrm>
            <a:off x="502920" y="457200"/>
            <a:ext cx="11155680" cy="640080"/>
          </a:xfrm>
          <a:prstGeom prst="rect">
            <a:avLst/>
          </a:prstGeom>
          <a:noFill/>
        </p:spPr>
        <p:txBody>
          <a:bodyPr wrap="square" lIns="45720" tIns="27432" rIns="45720" bIns="27432" anchor="t">
            <a:spAutoFit/>
          </a:bodyPr>
          <a:lstStyle/>
          <a:p>
            <a:pPr algn="l">
              <a:spcAft>
                <a:spcPts val="600"/>
              </a:spcAft>
            </a:pPr>
            <a:r>
              <a:rPr sz="3000" b="1" i="0">
                <a:solidFill>
                  <a:srgbClr val="0A1730"/>
                </a:solidFill>
                <a:latin typeface="Calibri" panose="020F0502020204030204"/>
              </a:rPr>
              <a:t>Appendix B: the Deep Agents planning path</a:t>
            </a:r>
            <a:endParaRPr sz="3000" b="1" i="0">
              <a:solidFill>
                <a:srgbClr val="0A1730"/>
              </a:solidFill>
              <a:latin typeface="Calibri" panose="020F0502020204030204"/>
            </a:endParaRPr>
          </a:p>
        </p:txBody>
      </p:sp>
      <p:sp>
        <p:nvSpPr>
          <p:cNvPr id="4" name="TextBox 3"/>
          <p:cNvSpPr txBox="1"/>
          <p:nvPr/>
        </p:nvSpPr>
        <p:spPr>
          <a:xfrm>
            <a:off x="502920" y="6419088"/>
            <a:ext cx="8229600" cy="274320"/>
          </a:xfrm>
          <a:prstGeom prst="rect">
            <a:avLst/>
          </a:prstGeom>
          <a:noFill/>
        </p:spPr>
        <p:txBody>
          <a:bodyPr wrap="square" lIns="45720" tIns="27432" rIns="45720" bIns="27432" anchor="t">
            <a:spAutoFit/>
          </a:bodyPr>
          <a:lstStyle/>
          <a:p>
            <a:pPr algn="l">
              <a:spcAft>
                <a:spcPts val="600"/>
              </a:spcAft>
            </a:pPr>
            <a:r>
              <a:rPr sz="1050" b="0" i="0">
                <a:solidFill>
                  <a:srgbClr val="556278"/>
                </a:solidFill>
                <a:latin typeface="Calibri" panose="020F0502020204030204"/>
              </a:rPr>
              <a:t>HR Chat Agent  ·  sample data and sample policies are illustrative</a:t>
            </a:r>
            <a:endParaRPr sz="1050" b="0" i="0">
              <a:solidFill>
                <a:srgbClr val="556278"/>
              </a:solidFill>
              <a:latin typeface="Calibri" panose="020F0502020204030204"/>
            </a:endParaRPr>
          </a:p>
        </p:txBody>
      </p:sp>
      <p:sp>
        <p:nvSpPr>
          <p:cNvPr id="5" name="TextBox 4"/>
          <p:cNvSpPr txBox="1"/>
          <p:nvPr/>
        </p:nvSpPr>
        <p:spPr>
          <a:xfrm>
            <a:off x="10972800" y="6419088"/>
            <a:ext cx="685800" cy="274320"/>
          </a:xfrm>
          <a:prstGeom prst="rect">
            <a:avLst/>
          </a:prstGeom>
          <a:noFill/>
        </p:spPr>
        <p:txBody>
          <a:bodyPr wrap="square" lIns="45720" tIns="27432" rIns="45720" bIns="27432" anchor="t">
            <a:spAutoFit/>
          </a:bodyPr>
          <a:lstStyle/>
          <a:p>
            <a:pPr algn="r">
              <a:spcAft>
                <a:spcPts val="600"/>
              </a:spcAft>
            </a:pPr>
            <a:r>
              <a:rPr sz="1050" b="0" i="0">
                <a:solidFill>
                  <a:srgbClr val="556278"/>
                </a:solidFill>
                <a:latin typeface="Calibri" panose="020F0502020204030204"/>
              </a:rPr>
              <a:t>18</a:t>
            </a:r>
            <a:endParaRPr sz="1050" b="0" i="0">
              <a:solidFill>
                <a:srgbClr val="556278"/>
              </a:solidFill>
              <a:latin typeface="Calibri" panose="020F0502020204030204"/>
            </a:endParaRPr>
          </a:p>
        </p:txBody>
      </p:sp>
      <p:pic>
        <p:nvPicPr>
          <p:cNvPr id="6" name="Picture 5" descr="03-deep-agents-path.png"/>
          <p:cNvPicPr>
            <a:picLocks noChangeAspect="1"/>
          </p:cNvPicPr>
          <p:nvPr/>
        </p:nvPicPr>
        <p:blipFill>
          <a:blip r:embed="rId1"/>
          <a:stretch>
            <a:fillRect/>
          </a:stretch>
        </p:blipFill>
        <p:spPr>
          <a:xfrm>
            <a:off x="1729620" y="1371600"/>
            <a:ext cx="8748000" cy="4937760"/>
          </a:xfrm>
          <a:prstGeom prst="rect">
            <a:avLst/>
          </a:prstGeom>
          <a:ln w="9525">
            <a:solidFill>
              <a:srgbClr val="D5DCE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10036</Words>
  <Application>WPS Presentation</Application>
  <PresentationFormat>On-screen Show (4:3)</PresentationFormat>
  <Paragraphs>476</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Sabarinath Venkatajalam</cp:lastModifiedBy>
  <cp:revision>2</cp:revision>
  <dcterms:created xsi:type="dcterms:W3CDTF">2013-01-27T09:14:00Z</dcterms:created>
  <dcterms:modified xsi:type="dcterms:W3CDTF">2026-10-04T17:46:20Z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5D9869E9FF7741138A203E02DDE25859_12</vt:lpwstr>
  </property>
  <property fmtid="{D5CDD505-2E9C-101B-9397-08002B2CF9AE}" pid="3" name="KSOProductBuildVer">
    <vt:lpwstr>1033-12.1.0.28485</vt:lpwstr>
  </property>
</Properties>
</file>